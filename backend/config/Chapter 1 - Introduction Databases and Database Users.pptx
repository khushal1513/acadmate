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  <p:sldMasterId id="2147483721" r:id="rId2"/>
  </p:sldMasterIdLst>
  <p:notesMasterIdLst>
    <p:notesMasterId r:id="rId32"/>
  </p:notesMasterIdLst>
  <p:handoutMasterIdLst>
    <p:handoutMasterId r:id="rId33"/>
  </p:handoutMasterIdLst>
  <p:sldIdLst>
    <p:sldId id="526" r:id="rId3"/>
    <p:sldId id="527" r:id="rId4"/>
    <p:sldId id="528" r:id="rId5"/>
    <p:sldId id="490" r:id="rId6"/>
    <p:sldId id="529" r:id="rId7"/>
    <p:sldId id="523" r:id="rId8"/>
    <p:sldId id="493" r:id="rId9"/>
    <p:sldId id="494" r:id="rId10"/>
    <p:sldId id="515" r:id="rId11"/>
    <p:sldId id="517" r:id="rId12"/>
    <p:sldId id="518" r:id="rId13"/>
    <p:sldId id="495" r:id="rId14"/>
    <p:sldId id="521" r:id="rId15"/>
    <p:sldId id="520" r:id="rId16"/>
    <p:sldId id="497" r:id="rId17"/>
    <p:sldId id="502" r:id="rId18"/>
    <p:sldId id="524" r:id="rId19"/>
    <p:sldId id="530" r:id="rId20"/>
    <p:sldId id="290" r:id="rId21"/>
    <p:sldId id="291" r:id="rId22"/>
    <p:sldId id="292" r:id="rId23"/>
    <p:sldId id="293" r:id="rId24"/>
    <p:sldId id="294" r:id="rId25"/>
    <p:sldId id="295" r:id="rId26"/>
    <p:sldId id="300" r:id="rId27"/>
    <p:sldId id="301" r:id="rId28"/>
    <p:sldId id="531" r:id="rId29"/>
    <p:sldId id="532" r:id="rId30"/>
    <p:sldId id="533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0066"/>
    <a:srgbClr val="00CC00"/>
    <a:srgbClr val="99FF33"/>
    <a:srgbClr val="FFFF99"/>
    <a:srgbClr val="FF9933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8" autoAdjust="0"/>
    <p:restoredTop sz="89054" autoAdjust="0"/>
  </p:normalViewPr>
  <p:slideViewPr>
    <p:cSldViewPr snapToGrid="0" snapToObjects="1">
      <p:cViewPr varScale="1">
        <p:scale>
          <a:sx n="70" d="100"/>
          <a:sy n="70" d="100"/>
        </p:scale>
        <p:origin x="1584" y="38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67698688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9CA5F814-B287-352B-53BE-DDE4B66AA4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880AB50F-27E6-4264-5E18-360E440EC43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5DFAF2F-ED98-4A78-A0B7-1738F0AC6556}" type="datetime1">
              <a:rPr lang="en-US" altLang="en-US"/>
              <a:pPr>
                <a:defRPr/>
              </a:pPr>
              <a:t>9/30/2025</a:t>
            </a:fld>
            <a:endParaRPr lang="en-US" altLang="en-US"/>
          </a:p>
        </p:txBody>
      </p:sp>
      <p:sp>
        <p:nvSpPr>
          <p:cNvPr id="151556" name="Rectangle 4">
            <a:extLst>
              <a:ext uri="{FF2B5EF4-FFF2-40B4-BE49-F238E27FC236}">
                <a16:creationId xmlns:a16="http://schemas.microsoft.com/office/drawing/2014/main" id="{AA39FD7F-29CF-05CD-AB1B-EDA0145B19E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1557" name="Rectangle 5">
            <a:extLst>
              <a:ext uri="{FF2B5EF4-FFF2-40B4-BE49-F238E27FC236}">
                <a16:creationId xmlns:a16="http://schemas.microsoft.com/office/drawing/2014/main" id="{23193139-0D95-B61E-E5E2-6BCA31792A1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9973CA9-99DE-4B7D-8A91-7E0CA5D1D9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600D914-6AC5-04D8-9BEF-383DCE83AD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76814F8-B55C-BA9C-B3CB-A9EE2413643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8E22C91-82F9-46A7-B9DA-89A3A05EE2F2}" type="datetime1">
              <a:rPr lang="en-US" altLang="en-US"/>
              <a:pPr>
                <a:defRPr/>
              </a:pPr>
              <a:t>9/30/2025</a:t>
            </a:fld>
            <a:endParaRPr lang="en-US" altLang="en-U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EB584041-EBB9-45FA-4519-0E03D1AA33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13E2BC7-7F66-9115-BC75-FDF5C48088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4C4C5003-850E-0752-162D-21AEEAE37A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FF178071-FDC9-F167-BED5-0DE5D5F7A2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67161-60C9-4B9E-AAB2-07CAB53464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71E5050F-3C06-DD2F-952A-B6E1BD2F4A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81BEB1-E68C-4F69-9E75-086E696C6203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37891" name="Rectangle 7">
            <a:extLst>
              <a:ext uri="{FF2B5EF4-FFF2-40B4-BE49-F238E27FC236}">
                <a16:creationId xmlns:a16="http://schemas.microsoft.com/office/drawing/2014/main" id="{66B409FF-02E1-1024-8518-8F53457077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4F3743-315A-4B2D-A07C-8EC93D0DE2A1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A320FBEC-BCA1-8341-FB4F-CAB98DE91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EEB24759-C3FD-F71E-8B27-5C0628D47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512AEAB9-ABF6-2527-E944-62F87A8C31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842E06-D8F6-4244-B98F-1C6CE8B129DC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38915" name="Rectangle 7">
            <a:extLst>
              <a:ext uri="{FF2B5EF4-FFF2-40B4-BE49-F238E27FC236}">
                <a16:creationId xmlns:a16="http://schemas.microsoft.com/office/drawing/2014/main" id="{6EC8ECF0-C7BF-2EC6-159F-2F57673AC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818F49D-F8AF-40EB-B526-6863DAD6704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D6B04007-CCF6-9818-E8FA-4C93A68ED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D74A4743-0EAF-4D7F-1C1A-BCC03822E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3F937E21-B879-8280-2736-3E6CC6E4FA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2CB72E-FD87-4633-A8AB-584DCC4EA99B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39939" name="Rectangle 7">
            <a:extLst>
              <a:ext uri="{FF2B5EF4-FFF2-40B4-BE49-F238E27FC236}">
                <a16:creationId xmlns:a16="http://schemas.microsoft.com/office/drawing/2014/main" id="{44FF6CD1-D8D2-D84B-7E78-B452BCECF6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8FF1B0-CDFE-4DFA-836B-AD10367B0DCA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08DC766A-5184-FAC0-D714-24DE407C7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534473F0-3793-6E5B-60F2-8C54D3434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DC4AAC6D-AA71-7157-75A7-E51E509402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2932E35-2DA9-480A-AB7F-F36F7E9AF4C0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1F5134D9-0AD8-538F-3D2D-22016E40BE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FFAAFA-4C5D-4E90-8C6B-8D05DBE479B1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C80A1021-EB7D-A4C6-B0DF-9DC972FB0B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DFF0FA82-A3B3-4199-B55E-F36CB26AF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A5A4E804-B08E-73CD-2A5A-82699805635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551C06-7D5D-4546-919A-61800BAB5695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20B1D3B0-AAA7-A048-FAF2-08847CE42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DE995A-7590-4047-90CF-976ADB5A8C07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99976B8D-456C-28CD-9135-E41170EEA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F49FE08C-5898-83A6-A017-FC8367FB1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04E39189-101E-BE8E-9B0B-D019C6C4EF5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B198B0-AF4D-4F32-8F2E-771F4A53A49A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0BD443D9-D329-C233-83FB-CDF3693D77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38B789-C16A-4D61-996F-36F71D46285A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B5AD7FA8-7271-E9DC-909A-A877FAB64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A48C9132-2B92-D0A3-7070-24768EA32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7DB0527A-C457-97EC-8187-B38A4197DA9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EF4F44-4865-404D-9DD4-F21547DB2E2D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51ED1318-1F6F-2FC5-C2E2-96BB2E89BE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297B67-8917-45F0-BF9A-25881D09395A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E9916CE5-7FF3-367E-E2D3-A17178C1D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C27DACB6-FEAA-3CD1-2A38-D57BC9F2E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CED1A57D-FC54-B25F-E61E-CCAC12980A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0A5DC0-0C3D-4A8E-B968-8F23CC588222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6CABE4F9-DA85-D26A-24B7-12880738CB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825B8A-C340-46FA-A015-3AA1C9B2958C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EC515573-9657-01ED-58A5-BAA1EB36B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A7A57881-D9A1-A63D-E9A0-B4676751D9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DA8D92DD-0A6B-CCC0-AE43-11195FA04A1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CC493A-29A1-40CB-A79D-D278E891C177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E6A6DEA6-5DF3-EF60-A0CA-192DA8B409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90505E-E030-410D-9940-502F7CEBCD10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859AC36E-53B2-F3ED-BC99-E6014CF54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2DCAD5C2-6571-0682-DCD6-A52D5419B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B3292A62-147A-A7EB-CB09-B979615E42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6B17F8-A785-4B73-B325-48EB406039F2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7107" name="Rectangle 7">
            <a:extLst>
              <a:ext uri="{FF2B5EF4-FFF2-40B4-BE49-F238E27FC236}">
                <a16:creationId xmlns:a16="http://schemas.microsoft.com/office/drawing/2014/main" id="{DACF9FED-436E-3963-A4E8-DEC8DB309B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507B75-BDD9-4BCB-B0E2-EAE8DF15CA7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B2E1308A-192A-D461-B599-09F2C87F6E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03E2F96F-E8C9-40FA-A477-93420E3E41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>
            <a:extLst>
              <a:ext uri="{FF2B5EF4-FFF2-40B4-BE49-F238E27FC236}">
                <a16:creationId xmlns:a16="http://schemas.microsoft.com/office/drawing/2014/main" id="{5C067B64-C8D3-1BCA-74AA-98939D8F501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B86848-2FAD-4793-B071-9EC8F71D5F4F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1E2460C7-5266-0315-F983-BA5BFE9A0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87FBE6-0DE6-44C5-8EB1-137E99A8D4D5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518625FD-B8FB-CA72-AD31-2B1D6827C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BDECF975-FFAA-820A-3CB0-25AB1A3A2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C28156C6-07C0-754A-CA42-BC9882D2427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AEE244-ADAA-4348-816F-77C3120F7ED9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49155" name="Rectangle 7">
            <a:extLst>
              <a:ext uri="{FF2B5EF4-FFF2-40B4-BE49-F238E27FC236}">
                <a16:creationId xmlns:a16="http://schemas.microsoft.com/office/drawing/2014/main" id="{C504AE0A-F2CC-8842-F8F3-F527A3BA5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E08B90-C7C8-4735-82E9-F710CF76BDBF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94A11FE6-D1AE-D40E-0E63-9483BCA61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E77CBDE3-49B6-2360-7565-277E885EC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02CD312E-2B83-4C0C-2059-61507A145D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3546C41-76DB-4AE3-9D3F-485DD76A4DC9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7A022A19-2B86-CBD7-4362-F5C69DD7E2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BFA964-98C6-42A0-AC3D-E7240D617BF1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D1B1033C-1090-3C50-0760-84378F0115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1D1138C5-71AD-FA4E-1876-07B4B7A71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00A8E865-110E-4DA7-7869-16362F8950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A20336-588E-4BB8-9B24-0D1EFB6E4FF8}" type="datetime1">
              <a:rPr lang="en-US" altLang="en-US" sz="1200" smtClean="0"/>
              <a:pPr/>
              <a:t>9/30/2025</a:t>
            </a:fld>
            <a:endParaRPr lang="en-US" altLang="en-US" sz="1200"/>
          </a:p>
        </p:txBody>
      </p:sp>
      <p:sp>
        <p:nvSpPr>
          <p:cNvPr id="51203" name="Rectangle 7">
            <a:extLst>
              <a:ext uri="{FF2B5EF4-FFF2-40B4-BE49-F238E27FC236}">
                <a16:creationId xmlns:a16="http://schemas.microsoft.com/office/drawing/2014/main" id="{0ACBD314-ED34-1536-BD0C-EBFB288F4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816A29-97EF-4C27-BDD0-8DBDEBC8F018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D4C7B913-4A39-EBC3-7ECD-C9A8D365D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DF163F42-7C0C-1DC2-32E8-672B3AD2F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>
            <a:extLst>
              <a:ext uri="{FF2B5EF4-FFF2-40B4-BE49-F238E27FC236}">
                <a16:creationId xmlns:a16="http://schemas.microsoft.com/office/drawing/2014/main" id="{E6334064-7A7D-E531-E918-E1BD003DF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0" y="5429250"/>
            <a:ext cx="7556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5">
            <a:extLst>
              <a:ext uri="{FF2B5EF4-FFF2-40B4-BE49-F238E27FC236}">
                <a16:creationId xmlns:a16="http://schemas.microsoft.com/office/drawing/2014/main" id="{FDC300C2-BA4F-5583-415F-2B7B974CE7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35250" y="6408738"/>
            <a:ext cx="4064000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>
                <a:solidFill>
                  <a:srgbClr val="808080"/>
                </a:solidFill>
              </a:rPr>
              <a:t>Copyright © 2004 Pearson Education, Inc.</a:t>
            </a:r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762000"/>
            <a:ext cx="7772400" cy="1143000"/>
          </a:xfrm>
        </p:spPr>
        <p:txBody>
          <a:bodyPr anchor="b"/>
          <a:lstStyle>
            <a:lvl1pPr>
              <a:defRPr sz="5400" b="1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38250" y="2420938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 sz="4000" b="1">
                <a:solidFill>
                  <a:srgbClr val="333399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0763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719FAFA-5527-67FF-5FC6-B2947C47A3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CD60A7A8-F29E-48C7-8AD9-FAA7A8BF30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BF0DDD9-DADA-0588-81D7-8542DEF053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5D8445AD-3EC6-4215-9D27-C4840A0F41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148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7808FF8-4677-2AE5-FD82-D691F98AE5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3A126F17-D252-4927-BC74-5ADD6CAB18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6520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69CF080-AEEF-F7E6-D1C1-DBC84B02F7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0C81EFC4-D02C-4019-9B7D-ACA87733F8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95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D84BD19-B036-B632-03B8-E412D79B2B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2668D8B2-E803-4832-B9FC-7B4B8B7017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75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3D081209-9EE4-71F9-D554-4A68F5957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DDE0F9D5-9CF7-44B6-878F-23C6004857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96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B60792E-01CF-3F0D-8BEA-A7507CFE70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3C878238-EC70-4C53-ADD8-A61D8DD933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48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BF1325B-32E0-9A7B-6BDB-8DB549B5BC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DA46EDAC-0B40-4724-BE04-9A3133A601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19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4993C31-45EF-E8D4-82FB-8315BA69B2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EE550D35-2B18-4DAA-A228-CBC9751386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2037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9483DCA-A1FC-F641-5BC2-81B616B637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1-</a:t>
            </a:r>
            <a:fld id="{EB88D5C9-EB23-4869-BDF2-5CC999A70C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22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95061-4758-2E8F-4DAF-4EF3468D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E15A1332-A884-4A26-9217-164FBF5A99E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177A-7A47-8F0D-7051-24AA48C8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3798C-1D46-8575-3A38-FCA87FC0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735175FE-B7CB-4419-A5B3-47636A9C99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211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4276B-0BA9-4F9B-2BD4-5E504A7D0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5DAEBF4D-39E9-4BCA-835B-7DA43E6F8F0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A39CF-F4D7-D0D3-4CD5-78C66199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D140-0BE9-8D3C-2C37-5A492305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D8689D40-9BE7-4C3F-AA19-FE90734718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393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C5B5F-0560-25D2-91CA-21593C806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D6DC0A5B-03BE-4236-A144-79318C1F4E89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15E1-1E3D-EC4F-35D3-1B188A41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DC552-F3F4-A26F-F9E6-3876AB79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E4527A6F-85C7-49A8-A4EB-2C43114CFD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3251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57B6-D37D-5199-4668-9DAF9778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6B2403F8-0146-40E9-8333-C0FD5EDB391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0AC23-2DA8-C5C7-8FD8-417C2D8F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7314F-1853-6D00-A972-F975B984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53D66001-18C2-4D82-A9A3-C7FBA1AD41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296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9F968-996F-EB2E-329E-FB9E9D5B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6FF38661-2EBF-4E03-A3FC-CC3637D011D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DF68E-72AB-73A6-C655-9EF9356C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1BD095-2DF9-612B-AD7B-F65D11A4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036EBD0F-A1FC-4931-8E8E-246BEA1F54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025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37A42-9A34-B565-23C3-6EB355BD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8DB2538E-75DF-4670-BDBC-E620B843229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D02BA-99C0-D595-DD25-7D52E649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C79E-708B-C429-553C-3344A29F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2FC84D33-4981-47A4-AA91-F0BC13C2C7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762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E0AE3-B3B4-F3E5-E8C2-50122F15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CC4B67D2-32D8-4D57-A3B3-AB40A9BD153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4B972-FC24-1E65-35AB-DF7A94F8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EDB0D-ACAD-F526-C3C2-E55FB952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A45EFC41-E194-47EA-90FB-CD442AAD17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1074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DCF2-A581-62A4-C33D-9B751F01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C3C6292B-C3C0-429D-A4DA-492C962D445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AA276-3771-4689-5034-3E6F2043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CF24B-C569-6BEE-65D8-FB8BD24E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5D28A293-9CC5-4387-B66A-4E9FCE38B7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0498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97A1D-9A9A-ABDB-5F88-92535D8D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FF21D8FA-C665-476A-8123-20B063776749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81B17-881C-9B03-6C6D-87BB5C93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BA7E3-4C43-36BE-DE94-1AB0C69C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EA54EAD8-D3E5-453F-966E-5E1D25E3DD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652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B171F-FFE6-D7F1-CFCD-2BF74B29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C4035800-911E-4960-B40D-F481D74AE935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C3D3F-A0CF-6C01-DE56-25E12A663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B8FDB-96D9-5FE1-E389-2E0A19D3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02DBDBF6-9457-41F3-8B6E-E95516F5E3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493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D43D6-D4A8-C83A-551D-223075FC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fld id="{117076C4-0E50-4F19-95C5-A74D5C8776E4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F1FD9-ED3B-2D42-F877-76AFA55F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Times New Roman" pitchFamily="-2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D2A3-2045-E9EC-07B4-79DEB471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latin typeface="Times New Roman" panose="02020603050405020304" pitchFamily="18" charset="0"/>
              </a:defRPr>
            </a:lvl1pPr>
          </a:lstStyle>
          <a:p>
            <a:fld id="{4B4E651B-6386-459C-8FA7-60DAD39A3A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33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1">
            <a:extLst>
              <a:ext uri="{FF2B5EF4-FFF2-40B4-BE49-F238E27FC236}">
                <a16:creationId xmlns:a16="http://schemas.microsoft.com/office/drawing/2014/main" id="{A2588F0F-FEF9-24C4-498F-A1038F137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738" y="6454775"/>
            <a:ext cx="1465262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5">
            <a:extLst>
              <a:ext uri="{FF2B5EF4-FFF2-40B4-BE49-F238E27FC236}">
                <a16:creationId xmlns:a16="http://schemas.microsoft.com/office/drawing/2014/main" id="{57A472A2-1DFB-F9AC-E37E-20A718280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4632" name="Rectangle 8">
            <a:extLst>
              <a:ext uri="{FF2B5EF4-FFF2-40B4-BE49-F238E27FC236}">
                <a16:creationId xmlns:a16="http://schemas.microsoft.com/office/drawing/2014/main" id="{C5DF62D0-C6E3-2EE6-BFF5-68F3A9AC3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77113" y="6454775"/>
            <a:ext cx="1681162" cy="319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b="1">
                <a:solidFill>
                  <a:schemeClr val="bg2"/>
                </a:solidFill>
              </a:defRPr>
            </a:lvl1pPr>
          </a:lstStyle>
          <a:p>
            <a:r>
              <a:rPr lang="en-US" altLang="en-US"/>
              <a:t>Slide 1-</a:t>
            </a:r>
            <a:fld id="{A336B898-2149-4E0C-B7CB-DB39790883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Rectangle 9">
            <a:extLst>
              <a:ext uri="{FF2B5EF4-FFF2-40B4-BE49-F238E27FC236}">
                <a16:creationId xmlns:a16="http://schemas.microsoft.com/office/drawing/2014/main" id="{9EFD7706-102F-DB24-8C60-BBD9568CC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18">
            <a:extLst>
              <a:ext uri="{FF2B5EF4-FFF2-40B4-BE49-F238E27FC236}">
                <a16:creationId xmlns:a16="http://schemas.microsoft.com/office/drawing/2014/main" id="{29F71579-DEAB-2CE2-8937-03E49A23B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6508750"/>
            <a:ext cx="7577137" cy="350838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000" b="1">
                <a:solidFill>
                  <a:srgbClr val="666699"/>
                </a:solidFill>
                <a:latin typeface="Arial" panose="020B0604020202020204" pitchFamily="34" charset="0"/>
              </a:rPr>
              <a:t>Elmasri and Navathe, Fundamentals of Database Systems, </a:t>
            </a:r>
            <a:r>
              <a:rPr lang="en-US" altLang="en-US" sz="1000" b="1" i="1">
                <a:solidFill>
                  <a:srgbClr val="666699"/>
                </a:solidFill>
                <a:latin typeface="Arial" panose="020B0604020202020204" pitchFamily="34" charset="0"/>
              </a:rPr>
              <a:t>Fourth Edition</a:t>
            </a:r>
          </a:p>
          <a:p>
            <a:pPr algn="ctr" eaLnBrk="1" hangingPunct="1">
              <a:defRPr/>
            </a:pPr>
            <a:r>
              <a:rPr lang="en-US" altLang="en-US" sz="1000">
                <a:solidFill>
                  <a:schemeClr val="bg2"/>
                </a:solidFill>
              </a:rPr>
              <a:t>Copyright © 2004 Pearson Education, Inc.</a:t>
            </a:r>
            <a:r>
              <a:rPr lang="en-US" altLang="en-US" sz="1400" b="1" i="1">
                <a:solidFill>
                  <a:srgbClr val="666699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31" name="Picture 20">
            <a:extLst>
              <a:ext uri="{FF2B5EF4-FFF2-40B4-BE49-F238E27FC236}">
                <a16:creationId xmlns:a16="http://schemas.microsoft.com/office/drawing/2014/main" id="{987424DA-F249-4C1C-51FA-39A2A4FD9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307975" cy="690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23">
            <a:extLst>
              <a:ext uri="{FF2B5EF4-FFF2-40B4-BE49-F238E27FC236}">
                <a16:creationId xmlns:a16="http://schemas.microsoft.com/office/drawing/2014/main" id="{130DE97C-BA43-6129-A158-15FF95728A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" y="6443663"/>
            <a:ext cx="8853488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23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33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sz="3200" kern="1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sz="28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l"/>
        <a:defRPr sz="24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sz="20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B999A35-380F-06A4-9D61-4054A6F7681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2DC85B6C-C423-FA18-6E67-389497CF30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AA25-83FD-194E-4D47-FEFB187E9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7ACAC054-A50F-4E21-B133-D8D1BE6C0DA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6BDE-99EB-4BF9-17EB-755CED3E4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D84A9-5DDD-7ACF-A285-709A71634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A5C29DAA-1A54-4563-9941-EB99A5FB73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17F5-A63E-6BF8-2997-3199BE0D4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775" y="1881188"/>
            <a:ext cx="7958138" cy="33274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  <a:t>Database Management Systems</a:t>
            </a:r>
            <a:b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IN" sz="5400" b="1" u="sng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4000" b="1" dirty="0">
                <a:solidFill>
                  <a:schemeClr val="tx2">
                    <a:lumMod val="50000"/>
                  </a:schemeClr>
                </a:solidFill>
              </a:rPr>
              <a:t>Module-1: </a:t>
            </a:r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Introduction to </a:t>
            </a:r>
            <a:br>
              <a:rPr lang="en-US" sz="40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4000" b="1" dirty="0">
                <a:solidFill>
                  <a:schemeClr val="tx2">
                    <a:lumMod val="50000"/>
                  </a:schemeClr>
                </a:solidFill>
              </a:rPr>
              <a:t>Database Concepts and Architecture </a:t>
            </a:r>
            <a:endParaRPr lang="en-IN" sz="4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363" name="Subtitle 2">
            <a:extLst>
              <a:ext uri="{FF2B5EF4-FFF2-40B4-BE49-F238E27FC236}">
                <a16:creationId xmlns:a16="http://schemas.microsoft.com/office/drawing/2014/main" id="{7F3D35AB-440D-24DD-9ED0-40AAD17DD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1763" y="5553075"/>
            <a:ext cx="3505200" cy="6858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1"/>
                </a:solidFill>
              </a:rPr>
              <a:t>Dr. Chethan B K</a:t>
            </a:r>
            <a:endParaRPr lang="en-IN" altLang="en-US" b="1">
              <a:solidFill>
                <a:schemeClr val="accent1"/>
              </a:solidFill>
            </a:endParaRPr>
          </a:p>
        </p:txBody>
      </p:sp>
      <p:sp>
        <p:nvSpPr>
          <p:cNvPr id="15364" name="AutoShape 2" descr="Annual Report 2020-21">
            <a:extLst>
              <a:ext uri="{FF2B5EF4-FFF2-40B4-BE49-F238E27FC236}">
                <a16:creationId xmlns:a16="http://schemas.microsoft.com/office/drawing/2014/main" id="{DBA7FF54-FBEF-1C95-4B2E-E0BA2B3B11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5365" name="AutoShape 4" descr="JSSTU Result">
            <a:extLst>
              <a:ext uri="{FF2B5EF4-FFF2-40B4-BE49-F238E27FC236}">
                <a16:creationId xmlns:a16="http://schemas.microsoft.com/office/drawing/2014/main" id="{ADE37C78-CF62-773D-0901-9508C310BF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5366" name="AutoShape 6" descr="JSSTU Result">
            <a:extLst>
              <a:ext uri="{FF2B5EF4-FFF2-40B4-BE49-F238E27FC236}">
                <a16:creationId xmlns:a16="http://schemas.microsoft.com/office/drawing/2014/main" id="{FDFA433B-F9DE-F496-49C8-1C8C7455E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5367" name="AutoShape 8" descr="JSSTU Result">
            <a:extLst>
              <a:ext uri="{FF2B5EF4-FFF2-40B4-BE49-F238E27FC236}">
                <a16:creationId xmlns:a16="http://schemas.microsoft.com/office/drawing/2014/main" id="{D5BC1943-4ECB-C6F3-6B00-99587946E4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2775" y="304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5368" name="AutoShape 10" descr="JSS Science and Technology University ...">
            <a:extLst>
              <a:ext uri="{FF2B5EF4-FFF2-40B4-BE49-F238E27FC236}">
                <a16:creationId xmlns:a16="http://schemas.microsoft.com/office/drawing/2014/main" id="{7799D8AC-EC07-9DDE-964E-6CCBF8420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5175" y="457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15369" name="Picture 11" descr="C:\Users\User\Downloads\download.png">
            <a:extLst>
              <a:ext uri="{FF2B5EF4-FFF2-40B4-BE49-F238E27FC236}">
                <a16:creationId xmlns:a16="http://schemas.microsoft.com/office/drawing/2014/main" id="{0C065CFB-203D-8608-CAF3-7A92C154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3" y="304800"/>
            <a:ext cx="588327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>
            <a:extLst>
              <a:ext uri="{FF2B5EF4-FFF2-40B4-BE49-F238E27FC236}">
                <a16:creationId xmlns:a16="http://schemas.microsoft.com/office/drawing/2014/main" id="{4595135A-99DC-B183-D50D-1E901DAB6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B17E3F9D-8191-0B58-281A-32EA07FC7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9144000" cy="681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9F21366B-1E7A-0652-9DF0-476A621953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5998E046-215B-43E8-A2A9-5C67F76A8DE3}" type="slidenum">
              <a:rPr lang="en-US" altLang="en-US" sz="1600">
                <a:solidFill>
                  <a:schemeClr val="bg2"/>
                </a:solidFill>
              </a:rPr>
              <a:pPr/>
              <a:t>4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70889E1-2F22-360E-30F4-A1C9D087E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7143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Introduction - Basic Definitions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A831792-C8E6-BD6B-01FB-988335744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1217613"/>
            <a:ext cx="8078787" cy="5337175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Database</a:t>
            </a:r>
            <a:r>
              <a:rPr lang="en-US" altLang="en-US" sz="2400">
                <a:solidFill>
                  <a:srgbClr val="000000"/>
                </a:solidFill>
              </a:rPr>
              <a:t>: A collection of related data.</a:t>
            </a:r>
          </a:p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Data</a:t>
            </a:r>
            <a:r>
              <a:rPr lang="en-US" altLang="en-US" sz="2400">
                <a:solidFill>
                  <a:srgbClr val="000000"/>
                </a:solidFill>
              </a:rPr>
              <a:t>: Known facts that can be recorded and have an implicit meaning.</a:t>
            </a:r>
          </a:p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Information</a:t>
            </a:r>
            <a:r>
              <a:rPr lang="en-US" altLang="en-US" sz="2400">
                <a:solidFill>
                  <a:srgbClr val="000000"/>
                </a:solidFill>
              </a:rPr>
              <a:t>: Knowledge acquired from the data.</a:t>
            </a:r>
          </a:p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Mini-world</a:t>
            </a:r>
            <a:r>
              <a:rPr lang="en-US" altLang="en-US" sz="2400">
                <a:solidFill>
                  <a:srgbClr val="000000"/>
                </a:solidFill>
              </a:rPr>
              <a:t>: Some part of the real world about which data is stored in a database. For example, student grades and transcripts at a university.</a:t>
            </a:r>
          </a:p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Database Management System (DBMS)</a:t>
            </a:r>
            <a:r>
              <a:rPr lang="en-US" altLang="en-US" sz="2400">
                <a:solidFill>
                  <a:srgbClr val="000000"/>
                </a:solidFill>
              </a:rPr>
              <a:t>: A software package/ system to facilitate the creation and maintenance of a computerized database.</a:t>
            </a:r>
          </a:p>
          <a:p>
            <a:pPr eaLnBrk="1" hangingPunct="1"/>
            <a:r>
              <a:rPr lang="en-US" altLang="en-US" sz="2400" b="1">
                <a:solidFill>
                  <a:srgbClr val="000000"/>
                </a:solidFill>
              </a:rPr>
              <a:t>Database System</a:t>
            </a:r>
            <a:r>
              <a:rPr lang="en-US" altLang="en-US" sz="2400">
                <a:solidFill>
                  <a:srgbClr val="000000"/>
                </a:solidFill>
              </a:rPr>
              <a:t>: The DBMS software together with the data itself.  Sometimes, the applications are also included.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C5948EFD-4BAC-4818-FA30-94A55D90D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64605EFC-D11F-4B8E-A28B-7C8E7C382E1A}" type="slidenum">
              <a:rPr lang="en-US" altLang="en-US" sz="1600">
                <a:solidFill>
                  <a:schemeClr val="bg2"/>
                </a:solidFill>
              </a:rPr>
              <a:pPr/>
              <a:t>5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19459" name="Picture 1027">
            <a:extLst>
              <a:ext uri="{FF2B5EF4-FFF2-40B4-BE49-F238E27FC236}">
                <a16:creationId xmlns:a16="http://schemas.microsoft.com/office/drawing/2014/main" id="{06F88685-0439-FD6E-46CA-EABEB409B8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5350" y="1417638"/>
            <a:ext cx="7559675" cy="4943475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0DC44BE-980C-B99A-1371-227BA4966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350" y="7143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600" dirty="0">
                <a:solidFill>
                  <a:schemeClr val="tx2">
                    <a:lumMod val="75000"/>
                  </a:schemeClr>
                </a:solidFill>
              </a:rPr>
              <a:t>Introduction - Simplified Database System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1">
            <a:extLst>
              <a:ext uri="{FF2B5EF4-FFF2-40B4-BE49-F238E27FC236}">
                <a16:creationId xmlns:a16="http://schemas.microsoft.com/office/drawing/2014/main" id="{4C7DAEB4-11AE-C1AF-003B-0E16BC812D7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1079DBF3-C8FF-4EE9-84E7-B3485C54F630}" type="slidenum">
              <a:rPr lang="en-US" altLang="en-US" sz="1600">
                <a:solidFill>
                  <a:schemeClr val="bg2"/>
                </a:solidFill>
              </a:rPr>
              <a:pPr/>
              <a:t>6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4BC481AF-E076-0B1B-54A3-482411014C9F}"/>
              </a:ext>
            </a:extLst>
          </p:cNvPr>
          <p:cNvSpPr txBox="1">
            <a:spLocks/>
          </p:cNvSpPr>
          <p:nvPr/>
        </p:nvSpPr>
        <p:spPr bwMode="auto">
          <a:xfrm>
            <a:off x="7377113" y="6454775"/>
            <a:ext cx="1681162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600" b="1">
                <a:solidFill>
                  <a:schemeClr val="bg2"/>
                </a:solidFill>
              </a:rPr>
              <a:t>Slide 1-</a:t>
            </a:r>
            <a:fld id="{E535AD5F-0BD7-4FF8-B8D1-A1BD0234D6FB}" type="slidenum">
              <a:rPr lang="en-US" altLang="en-US" sz="1600" b="1">
                <a:solidFill>
                  <a:schemeClr val="bg2"/>
                </a:solidFill>
              </a:rPr>
              <a:pPr algn="r" eaLnBrk="1" hangingPunct="1"/>
              <a:t>6</a:t>
            </a:fld>
            <a:endParaRPr lang="en-US" altLang="en-US" sz="1600" b="1">
              <a:solidFill>
                <a:schemeClr val="bg2"/>
              </a:solidFill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523C64C5-7437-F0A9-2DE2-999BF13C54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7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bg2"/>
                </a:solidFill>
                <a:latin typeface="Times New Roman" pitchFamily="-28" charset="0"/>
              </a:defRPr>
            </a:lvl1pPr>
            <a:lvl2pPr>
              <a:defRPr sz="2800">
                <a:solidFill>
                  <a:schemeClr val="bg2"/>
                </a:solidFill>
                <a:latin typeface="Times New Roman" pitchFamily="-28" charset="0"/>
              </a:defRPr>
            </a:lvl2pPr>
            <a:lvl3pPr>
              <a:defRPr sz="2400">
                <a:solidFill>
                  <a:schemeClr val="bg2"/>
                </a:solidFill>
                <a:latin typeface="Times New Roman" pitchFamily="-28" charset="0"/>
              </a:defRPr>
            </a:lvl3pPr>
            <a:lvl4pPr>
              <a:defRPr sz="2000">
                <a:solidFill>
                  <a:schemeClr val="bg2"/>
                </a:solidFill>
                <a:latin typeface="Times New Roman" pitchFamily="-28" charset="0"/>
              </a:defRPr>
            </a:lvl4pPr>
            <a:lvl5pPr>
              <a:defRPr sz="2000">
                <a:solidFill>
                  <a:schemeClr val="bg2"/>
                </a:solidFill>
                <a:latin typeface="Times New Roman" pitchFamily="-2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defRPr sz="2000">
                <a:solidFill>
                  <a:schemeClr val="bg2"/>
                </a:solidFill>
                <a:latin typeface="Times New Roman" pitchFamily="-2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defRPr sz="2000">
                <a:solidFill>
                  <a:schemeClr val="bg2"/>
                </a:solidFill>
                <a:latin typeface="Times New Roman" pitchFamily="-2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defRPr sz="2000">
                <a:solidFill>
                  <a:schemeClr val="bg2"/>
                </a:solidFill>
                <a:latin typeface="Times New Roman" pitchFamily="-2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defRPr sz="2000">
                <a:solidFill>
                  <a:schemeClr val="bg2"/>
                </a:solidFill>
                <a:latin typeface="Times New Roman" pitchFamily="-2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4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Examples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1611D2A1-F3FB-78BB-4075-D202B3BA3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1149350"/>
            <a:ext cx="7772400" cy="506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Numeric and Textual Databases / Traditional Databases.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Multimedia Databases.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Geographic Information Systems (GIS).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Data Warehouses ( OLAP – Online Analytical Processing).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Real-time and Active Databases.</a:t>
            </a:r>
          </a:p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en-US" sz="3200">
                <a:solidFill>
                  <a:srgbClr val="000000"/>
                </a:solidFill>
              </a:rPr>
              <a:t>Big data Storage Systems or NoSQL Systems.</a:t>
            </a:r>
            <a:endParaRPr lang="en-US" altLang="en-US" sz="3200" b="1" i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17404673-207A-702C-DB87-E30DDDEDB8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B0FF2C90-1DCB-4DE2-A3B8-25C8F995CDD6}" type="slidenum">
              <a:rPr lang="en-US" altLang="en-US" sz="1600">
                <a:solidFill>
                  <a:schemeClr val="bg2"/>
                </a:solidFill>
              </a:rPr>
              <a:pPr/>
              <a:t>7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D70BFB6-F04F-CE32-5B7A-C1171B818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100" y="234950"/>
            <a:ext cx="88519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Example – University Database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E56E111-73C2-D7BF-1C70-5DD968894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90675"/>
            <a:ext cx="8039100" cy="46450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>
                <a:solidFill>
                  <a:srgbClr val="000000"/>
                </a:solidFill>
              </a:rPr>
              <a:t>Mini-world for the example</a:t>
            </a:r>
            <a:r>
              <a:rPr lang="en-US" altLang="en-US" sz="2800">
                <a:solidFill>
                  <a:srgbClr val="000000"/>
                </a:solidFill>
              </a:rPr>
              <a:t>: Part of a UNIVERSITY environment.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>
                <a:solidFill>
                  <a:srgbClr val="000000"/>
                </a:solidFill>
              </a:rPr>
              <a:t>Some mini-world </a:t>
            </a:r>
            <a:r>
              <a:rPr lang="en-US" altLang="en-US" sz="2800" b="1" i="1">
                <a:solidFill>
                  <a:srgbClr val="000000"/>
                </a:solidFill>
              </a:rPr>
              <a:t>entities</a:t>
            </a:r>
            <a:r>
              <a:rPr lang="en-US" altLang="en-US" sz="2800">
                <a:solidFill>
                  <a:srgbClr val="000000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STUDENTs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COURSEs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SECTIONs (of COURSEs)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(academic) DEPARTMENTs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INSTRUCTORs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000000"/>
                </a:solidFill>
              </a:rPr>
              <a:t>Note</a:t>
            </a:r>
            <a:r>
              <a:rPr lang="en-US" altLang="en-US" sz="2800">
                <a:solidFill>
                  <a:srgbClr val="000000"/>
                </a:solidFill>
              </a:rPr>
              <a:t>: The above could be expressed in the ENTITY-RELATIONSHIP data model.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82149F49-4700-EC11-9EA1-5DB02D8AF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DEFFF3DA-A1DC-4B81-9F28-7E98771A66F2}" type="slidenum">
              <a:rPr lang="en-US" altLang="en-US" sz="1600">
                <a:solidFill>
                  <a:schemeClr val="bg2"/>
                </a:solidFill>
              </a:rPr>
              <a:pPr/>
              <a:t>8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7FF7903-7DF6-391C-CF02-6783AFB2B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75" y="131763"/>
            <a:ext cx="87249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Example – University Database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55D27D8-1DD8-8A19-634E-D22FFBA7C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74763"/>
            <a:ext cx="7772400" cy="47720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>
                <a:solidFill>
                  <a:srgbClr val="000000"/>
                </a:solidFill>
              </a:rPr>
              <a:t>Some mini-world </a:t>
            </a:r>
            <a:r>
              <a:rPr lang="en-US" altLang="en-US" sz="2800" b="1" i="1">
                <a:solidFill>
                  <a:srgbClr val="000000"/>
                </a:solidFill>
              </a:rPr>
              <a:t>relationships</a:t>
            </a:r>
            <a:r>
              <a:rPr lang="en-US" altLang="en-US" sz="2800">
                <a:solidFill>
                  <a:srgbClr val="000000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SECTIONs </a:t>
            </a:r>
            <a:r>
              <a:rPr lang="en-US" altLang="en-US" sz="2400" i="1">
                <a:solidFill>
                  <a:srgbClr val="000000"/>
                </a:solidFill>
              </a:rPr>
              <a:t>are of</a:t>
            </a:r>
            <a:r>
              <a:rPr lang="en-US" altLang="en-US" sz="2400">
                <a:solidFill>
                  <a:srgbClr val="000000"/>
                </a:solidFill>
              </a:rPr>
              <a:t>  specific COURSEs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STUDENTs </a:t>
            </a:r>
            <a:r>
              <a:rPr lang="en-US" altLang="en-US" sz="2400" i="1">
                <a:solidFill>
                  <a:srgbClr val="000000"/>
                </a:solidFill>
              </a:rPr>
              <a:t>take</a:t>
            </a:r>
            <a:r>
              <a:rPr lang="en-US" altLang="en-US" sz="2400">
                <a:solidFill>
                  <a:srgbClr val="000000"/>
                </a:solidFill>
              </a:rPr>
              <a:t>  SECTIONs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COURSEs </a:t>
            </a:r>
            <a:r>
              <a:rPr lang="en-US" altLang="en-US" sz="2400" i="1">
                <a:solidFill>
                  <a:srgbClr val="000000"/>
                </a:solidFill>
              </a:rPr>
              <a:t>have</a:t>
            </a:r>
            <a:r>
              <a:rPr lang="en-US" altLang="en-US" sz="2400">
                <a:solidFill>
                  <a:srgbClr val="000000"/>
                </a:solidFill>
              </a:rPr>
              <a:t>  prerequisite COURSEs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INSTRUCTORs </a:t>
            </a:r>
            <a:r>
              <a:rPr lang="en-US" altLang="en-US" sz="2400" i="1">
                <a:solidFill>
                  <a:srgbClr val="000000"/>
                </a:solidFill>
              </a:rPr>
              <a:t>teach</a:t>
            </a:r>
            <a:r>
              <a:rPr lang="en-US" altLang="en-US" sz="2400">
                <a:solidFill>
                  <a:srgbClr val="000000"/>
                </a:solidFill>
              </a:rPr>
              <a:t>  SECTIONs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COURSEs </a:t>
            </a:r>
            <a:r>
              <a:rPr lang="en-US" altLang="en-US" sz="2400" i="1">
                <a:solidFill>
                  <a:srgbClr val="000000"/>
                </a:solidFill>
              </a:rPr>
              <a:t>are offered by</a:t>
            </a:r>
            <a:r>
              <a:rPr lang="en-US" altLang="en-US" sz="2400">
                <a:solidFill>
                  <a:srgbClr val="000000"/>
                </a:solidFill>
              </a:rPr>
              <a:t>  DEPARTMENTs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000000"/>
                </a:solidFill>
              </a:rPr>
              <a:t>STUDENTs </a:t>
            </a:r>
            <a:r>
              <a:rPr lang="en-US" altLang="en-US" sz="2400" i="1">
                <a:solidFill>
                  <a:srgbClr val="000000"/>
                </a:solidFill>
              </a:rPr>
              <a:t>major in</a:t>
            </a:r>
            <a:r>
              <a:rPr lang="en-US" altLang="en-US" sz="2400">
                <a:solidFill>
                  <a:srgbClr val="000000"/>
                </a:solidFill>
              </a:rPr>
              <a:t>  DEPARTMENTs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20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>
                <a:solidFill>
                  <a:srgbClr val="000000"/>
                </a:solidFill>
              </a:rPr>
              <a:t>Note</a:t>
            </a:r>
            <a:r>
              <a:rPr lang="en-US" altLang="en-US" sz="2800">
                <a:solidFill>
                  <a:srgbClr val="000000"/>
                </a:solidFill>
              </a:rPr>
              <a:t>: The above could be expressed in the </a:t>
            </a:r>
            <a:r>
              <a:rPr lang="en-US" altLang="en-US" sz="2800" i="1">
                <a:solidFill>
                  <a:srgbClr val="000000"/>
                </a:solidFill>
              </a:rPr>
              <a:t>ENTITY-RELATIONSHIP</a:t>
            </a:r>
            <a:r>
              <a:rPr lang="en-US" altLang="en-US" sz="2800">
                <a:solidFill>
                  <a:srgbClr val="000000"/>
                </a:solidFill>
              </a:rPr>
              <a:t> data model.</a:t>
            </a:r>
            <a:endParaRPr lang="en-US" alt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ACC71EC2-26BD-E7B3-734B-97065603E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297B0D97-F119-4FB0-B487-89AB31FBFE76}" type="slidenum">
              <a:rPr lang="en-US" altLang="en-US" sz="1600">
                <a:solidFill>
                  <a:schemeClr val="bg2"/>
                </a:solidFill>
              </a:rPr>
              <a:pPr/>
              <a:t>9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23555" name="Picture 1027">
            <a:extLst>
              <a:ext uri="{FF2B5EF4-FFF2-40B4-BE49-F238E27FC236}">
                <a16:creationId xmlns:a16="http://schemas.microsoft.com/office/drawing/2014/main" id="{1C702ECD-0984-C12E-8536-F60CF18A07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709738"/>
            <a:ext cx="7772400" cy="4094162"/>
          </a:xfrm>
        </p:spPr>
      </p:pic>
      <p:sp>
        <p:nvSpPr>
          <p:cNvPr id="6" name="Rectangle 1026">
            <a:extLst>
              <a:ext uri="{FF2B5EF4-FFF2-40B4-BE49-F238E27FC236}">
                <a16:creationId xmlns:a16="http://schemas.microsoft.com/office/drawing/2014/main" id="{1CCB3479-FE9A-8F74-E701-FDDE1DC9E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71475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solidFill>
                  <a:schemeClr val="tx2">
                    <a:lumMod val="75000"/>
                  </a:schemeClr>
                </a:solidFill>
              </a:rPr>
              <a:t>Example - A database that stores student and course information.</a:t>
            </a:r>
            <a:endParaRPr lang="en-US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4A732C95-2381-AFFC-2CDD-DCEEC5A8F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9590057D-4601-4A71-AEED-B81645EC60BF}" type="slidenum">
              <a:rPr lang="en-US" altLang="en-US" sz="1600">
                <a:solidFill>
                  <a:schemeClr val="bg2"/>
                </a:solidFill>
              </a:rPr>
              <a:pPr/>
              <a:t>10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1507" name="Rectangle 1026">
            <a:extLst>
              <a:ext uri="{FF2B5EF4-FFF2-40B4-BE49-F238E27FC236}">
                <a16:creationId xmlns:a16="http://schemas.microsoft.com/office/drawing/2014/main" id="{7BC885AF-1585-DBC0-2569-D9B1EB3AF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71475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solidFill>
                  <a:schemeClr val="tx2">
                    <a:lumMod val="75000"/>
                  </a:schemeClr>
                </a:solidFill>
              </a:rPr>
              <a:t>Example - A database that stores student and course information.</a:t>
            </a:r>
            <a:endParaRPr lang="en-US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4580" name="Picture 1027">
            <a:extLst>
              <a:ext uri="{FF2B5EF4-FFF2-40B4-BE49-F238E27FC236}">
                <a16:creationId xmlns:a16="http://schemas.microsoft.com/office/drawing/2014/main" id="{7DFDFABE-B31E-54F0-96AB-8D0B9D77FD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624013"/>
            <a:ext cx="8347075" cy="3875087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13DB2BB6-D5A0-9328-4A94-601E0CAB6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A456C3D3-A98D-4E7E-9ED0-EBA106EA4496}" type="slidenum">
              <a:rPr lang="en-US" altLang="en-US" sz="1600">
                <a:solidFill>
                  <a:schemeClr val="bg2"/>
                </a:solidFill>
              </a:rPr>
              <a:pPr/>
              <a:t>11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3555" name="Rectangle 1026">
            <a:extLst>
              <a:ext uri="{FF2B5EF4-FFF2-40B4-BE49-F238E27FC236}">
                <a16:creationId xmlns:a16="http://schemas.microsoft.com/office/drawing/2014/main" id="{40D703A3-3F6C-B1D2-320B-4815AFD8F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b="1" dirty="0">
                <a:solidFill>
                  <a:schemeClr val="tx2">
                    <a:lumMod val="75000"/>
                  </a:schemeClr>
                </a:solidFill>
              </a:rPr>
              <a:t>Example - A database that stores student and course information.</a:t>
            </a:r>
            <a:endParaRPr lang="en-US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5604" name="Picture 1027">
            <a:extLst>
              <a:ext uri="{FF2B5EF4-FFF2-40B4-BE49-F238E27FC236}">
                <a16:creationId xmlns:a16="http://schemas.microsoft.com/office/drawing/2014/main" id="{CAE485BD-6C25-A327-20F5-FBAA149ADD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490663"/>
            <a:ext cx="7477125" cy="424815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5075F233-6D0B-7BE3-6AD9-D3002A7D2E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84148B03-6665-48C0-B12A-5BAC123E5C26}" type="slidenum">
              <a:rPr lang="en-US" altLang="en-US" sz="1600">
                <a:solidFill>
                  <a:schemeClr val="bg2"/>
                </a:solidFill>
              </a:rPr>
              <a:pPr/>
              <a:t>12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C6FD8F8-4AD9-7388-6404-E625F1522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100" y="609600"/>
            <a:ext cx="8766175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Characteristics of the Database Approach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C511DC7F-D230-A38B-D4CA-F07A4874F2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93900"/>
            <a:ext cx="7404100" cy="4114800"/>
          </a:xfrm>
        </p:spPr>
        <p:txBody>
          <a:bodyPr/>
          <a:lstStyle/>
          <a:p>
            <a:pPr eaLnBrk="1" hangingPunct="1">
              <a:buFont typeface="Wingdings" pitchFamily="-28" charset="2"/>
              <a:buChar char="l"/>
              <a:defRPr/>
            </a:pP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</a:rPr>
              <a:t>Self-describing nature of a database system: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A DBMS </a:t>
            </a:r>
            <a:r>
              <a:rPr lang="en-US" altLang="en-US" sz="2800" b="1" dirty="0">
                <a:solidFill>
                  <a:srgbClr val="000000"/>
                </a:solidFill>
              </a:rPr>
              <a:t>catalog</a:t>
            </a:r>
            <a:r>
              <a:rPr lang="en-US" altLang="en-US" sz="2800" dirty="0">
                <a:solidFill>
                  <a:srgbClr val="000000"/>
                </a:solidFill>
              </a:rPr>
              <a:t> stores the </a:t>
            </a:r>
            <a:r>
              <a:rPr lang="en-US" altLang="en-US" sz="2800" i="1" dirty="0">
                <a:solidFill>
                  <a:srgbClr val="000000"/>
                </a:solidFill>
              </a:rPr>
              <a:t>description</a:t>
            </a:r>
            <a:r>
              <a:rPr lang="en-US" altLang="en-US" sz="2800" dirty="0">
                <a:solidFill>
                  <a:srgbClr val="000000"/>
                </a:solidFill>
              </a:rPr>
              <a:t>  of the database. The description is called </a:t>
            </a:r>
            <a:r>
              <a:rPr lang="en-US" altLang="en-US" sz="2800" b="1" dirty="0">
                <a:solidFill>
                  <a:srgbClr val="000000"/>
                </a:solidFill>
              </a:rPr>
              <a:t>meta-data</a:t>
            </a:r>
            <a:r>
              <a:rPr lang="en-US" altLang="en-US" sz="2800" dirty="0">
                <a:solidFill>
                  <a:srgbClr val="000000"/>
                </a:solidFill>
              </a:rPr>
              <a:t>). This allows the DBMS software to work with different databases.</a:t>
            </a:r>
          </a:p>
          <a:p>
            <a:pPr eaLnBrk="1" hangingPunct="1">
              <a:buFont typeface="Wingdings" pitchFamily="-28" charset="2"/>
              <a:buChar char="l"/>
              <a:defRPr/>
            </a:pP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</a:rPr>
              <a:t>Insulation between programs and data: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Called </a:t>
            </a:r>
            <a:r>
              <a:rPr lang="en-US" altLang="en-US" sz="2800" b="1" dirty="0">
                <a:solidFill>
                  <a:srgbClr val="000000"/>
                </a:solidFill>
              </a:rPr>
              <a:t>program-data independence</a:t>
            </a:r>
            <a:r>
              <a:rPr lang="en-US" altLang="en-US" sz="2800" dirty="0">
                <a:solidFill>
                  <a:srgbClr val="000000"/>
                </a:solidFill>
              </a:rPr>
              <a:t>. Allows changing data storage structures and operations without having to change the DBMS access programs.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7642013D-A7CF-8FC2-6F74-7F6CBE729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E9694C68-9AB4-4A0D-A395-7E579E499BF3}" type="slidenum">
              <a:rPr lang="en-US" altLang="en-US" sz="1600">
                <a:solidFill>
                  <a:schemeClr val="bg2"/>
                </a:solidFill>
              </a:rPr>
              <a:pPr/>
              <a:t>13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C8B7DD9-F2CF-0BEB-CBFB-C543FFE1F7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175" y="609600"/>
            <a:ext cx="8759825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Characteristics of the Database Approach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0406062-C647-B0B9-5BA9-8AF29A49A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188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-28" charset="2"/>
              <a:buChar char="l"/>
              <a:defRPr/>
            </a:pP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</a:rPr>
              <a:t>Data Abstraction</a:t>
            </a:r>
            <a:r>
              <a:rPr lang="en-US" altLang="en-US" sz="2800" u="sng" dirty="0">
                <a:solidFill>
                  <a:srgbClr val="000000"/>
                </a:solidFill>
              </a:rPr>
              <a:t>:</a:t>
            </a:r>
            <a:r>
              <a:rPr lang="en-US" altLang="en-US" sz="2800" dirty="0">
                <a:solidFill>
                  <a:srgbClr val="000000"/>
                </a:solidFill>
              </a:rPr>
              <a:t> A </a:t>
            </a:r>
            <a:r>
              <a:rPr lang="en-US" altLang="en-US" sz="2800" b="1" dirty="0">
                <a:solidFill>
                  <a:srgbClr val="000000"/>
                </a:solidFill>
              </a:rPr>
              <a:t>data model</a:t>
            </a:r>
            <a:r>
              <a:rPr lang="en-US" altLang="en-US" sz="2800" dirty="0">
                <a:solidFill>
                  <a:srgbClr val="000000"/>
                </a:solidFill>
              </a:rPr>
              <a:t> is used to hide storage details and present the users with a </a:t>
            </a:r>
            <a:r>
              <a:rPr lang="en-US" altLang="en-US" sz="2800" i="1" dirty="0">
                <a:solidFill>
                  <a:srgbClr val="000000"/>
                </a:solidFill>
              </a:rPr>
              <a:t>conceptual view</a:t>
            </a:r>
            <a:r>
              <a:rPr lang="en-US" altLang="en-US" sz="2800" dirty="0">
                <a:solidFill>
                  <a:srgbClr val="000000"/>
                </a:solidFill>
              </a:rPr>
              <a:t>  of the database.</a:t>
            </a:r>
          </a:p>
          <a:p>
            <a:pPr eaLnBrk="1" hangingPunct="1">
              <a:lnSpc>
                <a:spcPct val="90000"/>
              </a:lnSpc>
              <a:buFont typeface="Wingdings" pitchFamily="-28" charset="2"/>
              <a:buChar char="l"/>
              <a:defRPr/>
            </a:pP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</a:rPr>
              <a:t>Support of multiple views of the data: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sz="2800" dirty="0">
                <a:solidFill>
                  <a:srgbClr val="000000"/>
                </a:solidFill>
              </a:rPr>
              <a:t>Each user may see a      different view of the database, which describes </a:t>
            </a:r>
            <a:r>
              <a:rPr lang="en-US" altLang="en-US" sz="2800" i="1" dirty="0">
                <a:solidFill>
                  <a:srgbClr val="000000"/>
                </a:solidFill>
              </a:rPr>
              <a:t>only</a:t>
            </a:r>
            <a:r>
              <a:rPr lang="en-US" altLang="en-US" sz="2800" dirty="0">
                <a:solidFill>
                  <a:srgbClr val="000000"/>
                </a:solidFill>
              </a:rPr>
              <a:t>  the data of interest to that user.</a:t>
            </a:r>
          </a:p>
          <a:p>
            <a:pPr eaLnBrk="1" hangingPunct="1">
              <a:lnSpc>
                <a:spcPct val="90000"/>
              </a:lnSpc>
              <a:buFont typeface="Wingdings" pitchFamily="-28" charset="2"/>
              <a:buChar char="l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-28" charset="2"/>
              <a:buChar char="l"/>
              <a:defRPr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396B1B33-B379-445B-E8FE-BA9B6C442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0951A9CA-F32A-43E7-A144-64BFF73BD21C}" type="slidenum">
              <a:rPr lang="en-US" altLang="en-US" sz="1600">
                <a:solidFill>
                  <a:schemeClr val="bg2"/>
                </a:solidFill>
              </a:rPr>
              <a:pPr/>
              <a:t>14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BFD9A279-4260-7D24-2EBD-B8424634F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34925"/>
            <a:ext cx="8051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200" dirty="0">
                <a:solidFill>
                  <a:schemeClr val="tx2">
                    <a:lumMod val="75000"/>
                  </a:schemeClr>
                </a:solidFill>
              </a:rPr>
              <a:t>Characteristics of the Database Approach</a:t>
            </a:r>
            <a:endParaRPr lang="en-US" altLang="en-US"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8676" name="Picture 3">
            <a:extLst>
              <a:ext uri="{FF2B5EF4-FFF2-40B4-BE49-F238E27FC236}">
                <a16:creationId xmlns:a16="http://schemas.microsoft.com/office/drawing/2014/main" id="{DFC9EFD7-9255-99B1-607A-D5DA0B6E9F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0088" y="1122363"/>
            <a:ext cx="8037512" cy="500856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1C2F41A4-DD3A-1210-26EA-4DCBC21CD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E2DF78A0-8710-448C-AC0B-FA36FD3CC361}" type="slidenum">
              <a:rPr lang="en-US" altLang="en-US" sz="1600">
                <a:solidFill>
                  <a:schemeClr val="bg2"/>
                </a:solidFill>
              </a:rPr>
              <a:pPr/>
              <a:t>15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4E9257E-7EF4-9FC4-81CD-414ED6F96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875" y="609600"/>
            <a:ext cx="8661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Characteristics of the Database Approach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C686E67-071A-5ED8-6E9C-AA6A9D7C3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154238"/>
            <a:ext cx="7772400" cy="3743325"/>
          </a:xfrm>
        </p:spPr>
        <p:txBody>
          <a:bodyPr/>
          <a:lstStyle/>
          <a:p>
            <a:pPr algn="just" eaLnBrk="1" hangingPunct="1">
              <a:buFont typeface="Wingdings" pitchFamily="-28" charset="2"/>
              <a:buChar char="l"/>
              <a:defRPr/>
            </a:pPr>
            <a:r>
              <a:rPr lang="en-US" altLang="en-US" sz="2800" u="sng" dirty="0">
                <a:solidFill>
                  <a:schemeClr val="accent6">
                    <a:lumMod val="75000"/>
                  </a:schemeClr>
                </a:solidFill>
              </a:rPr>
              <a:t>Sharing of data and multiuser transaction processing : </a:t>
            </a:r>
            <a:r>
              <a:rPr lang="en-US" altLang="en-US" sz="2800" dirty="0">
                <a:solidFill>
                  <a:srgbClr val="000000"/>
                </a:solidFill>
              </a:rPr>
              <a:t>allowing a set of concurrent users to retrieve and to update the  database. Concurrency control within the DBMS guarantees that each </a:t>
            </a:r>
            <a:r>
              <a:rPr lang="en-US" altLang="en-US" sz="2800" b="1" dirty="0">
                <a:solidFill>
                  <a:srgbClr val="000000"/>
                </a:solidFill>
              </a:rPr>
              <a:t>transaction</a:t>
            </a:r>
            <a:r>
              <a:rPr lang="en-US" altLang="en-US" sz="2800" dirty="0">
                <a:solidFill>
                  <a:srgbClr val="000000"/>
                </a:solidFill>
              </a:rPr>
              <a:t> is correctly executed or completely aborted. OLTP (Online Transaction Processing) is a major part of database applications.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C525DD7E-7F60-7D14-76AE-2E7AB4835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F6A5F60E-B974-43F6-9B4D-9803D3F50500}" type="slidenum">
              <a:rPr lang="en-US" altLang="en-US" sz="1600">
                <a:solidFill>
                  <a:schemeClr val="bg2"/>
                </a:solidFill>
              </a:rPr>
              <a:pPr/>
              <a:t>16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DF56DF5-3691-D5F9-0D8A-56D1E33ED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188" y="384175"/>
            <a:ext cx="8701087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Advantages of Using the Database Approach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0226FF8-3E1A-E071-DD0A-359522599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350" y="1966913"/>
            <a:ext cx="7772400" cy="465931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Controlling Redundancy.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Restricting Unauthorized Access to data.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Providing Persistent Storage for Program Objects.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Providing Storage Structures and Search Techniques for Efficient Query Processing.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Providing Backup and Recovery.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AFCB6FE8-ECC1-4764-79FD-8C8EADD8E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A190A5B5-C725-4FAA-AFAC-E7EB655D4F86}" type="slidenum">
              <a:rPr lang="en-US" altLang="en-US" sz="1600">
                <a:solidFill>
                  <a:schemeClr val="bg2"/>
                </a:solidFill>
              </a:rPr>
              <a:pPr/>
              <a:t>17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B5EBEC8-2DAF-6C78-C84F-06E4D2EF9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369888"/>
            <a:ext cx="8442325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Advantages of Using the Database Approach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276A526-DC91-F1AB-524F-5A8787FBB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225" y="1963738"/>
            <a:ext cx="7772400" cy="4659312"/>
          </a:xfrm>
        </p:spPr>
        <p:txBody>
          <a:bodyPr/>
          <a:lstStyle/>
          <a:p>
            <a:pPr eaLnBrk="1" hangingPunct="1"/>
            <a:r>
              <a:rPr lang="en-US" altLang="en-US"/>
              <a:t>Providing Multiple User Interfaces.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Representing Complex Relationships among Data.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Enforcing Integrity Constraints.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Permitting Inferencing and Actions Using Rules and Triggers.</a:t>
            </a:r>
          </a:p>
          <a:p>
            <a:pPr eaLnBrk="1" hangingPunct="1"/>
            <a:endParaRPr lang="en-US" altLang="en-US">
              <a:solidFill>
                <a:srgbClr val="000000"/>
              </a:solidFill>
            </a:endParaRPr>
          </a:p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>
            <a:extLst>
              <a:ext uri="{FF2B5EF4-FFF2-40B4-BE49-F238E27FC236}">
                <a16:creationId xmlns:a16="http://schemas.microsoft.com/office/drawing/2014/main" id="{ED1DC94F-3B6F-EE9B-3644-A07CFCCA8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77EF8AD1-FC4E-4BCA-BB8B-DF7326335D77}" type="slidenum">
              <a:rPr lang="en-US" altLang="en-US" sz="1600">
                <a:solidFill>
                  <a:schemeClr val="bg2"/>
                </a:solidFill>
              </a:rPr>
              <a:pPr/>
              <a:t>18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FBF25255-1107-21D2-B137-21FCE353A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12700"/>
            <a:ext cx="7772400" cy="78898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>
                <a:solidFill>
                  <a:schemeClr val="tx2">
                    <a:lumMod val="75000"/>
                  </a:schemeClr>
                </a:solidFill>
              </a:rPr>
              <a:t>Typical DBMS Functionality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A23B046-4B8D-1D9E-9DFE-0AAC22544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6163" y="825500"/>
            <a:ext cx="7632700" cy="5343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Define a database : </a:t>
            </a:r>
            <a:r>
              <a:rPr lang="en-US" altLang="en-US" sz="2500">
                <a:solidFill>
                  <a:srgbClr val="000000"/>
                </a:solidFill>
              </a:rPr>
              <a:t>in terms of data types, structures and constraints.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Construct or Load </a:t>
            </a:r>
            <a:r>
              <a:rPr lang="en-US" altLang="en-US" sz="2500">
                <a:solidFill>
                  <a:srgbClr val="000000"/>
                </a:solidFill>
              </a:rPr>
              <a:t>the Database on a secondary storage medium.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Manipulating the database </a:t>
            </a:r>
            <a:r>
              <a:rPr lang="en-US" altLang="en-US" sz="2500">
                <a:solidFill>
                  <a:srgbClr val="000000"/>
                </a:solidFill>
              </a:rPr>
              <a:t>: querying, generating reports, insertions, deletions and modifications to its content.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Concurrent Processing </a:t>
            </a:r>
            <a:r>
              <a:rPr lang="en-US" altLang="en-US" sz="2500">
                <a:solidFill>
                  <a:srgbClr val="000000"/>
                </a:solidFill>
              </a:rPr>
              <a:t>and Sharing by a set of users and programs – yet, keeping all data valid and consistent.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Protection or Security </a:t>
            </a:r>
            <a:r>
              <a:rPr lang="en-US" altLang="en-US" sz="2500">
                <a:solidFill>
                  <a:srgbClr val="000000"/>
                </a:solidFill>
              </a:rPr>
              <a:t>measures to prevent unauthorized access.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000000"/>
                </a:solidFill>
              </a:rPr>
              <a:t>“</a:t>
            </a:r>
            <a:r>
              <a:rPr lang="en-US" altLang="en-US" sz="2500">
                <a:solidFill>
                  <a:srgbClr val="FF0066"/>
                </a:solidFill>
              </a:rPr>
              <a:t>Active</a:t>
            </a:r>
            <a:r>
              <a:rPr lang="en-US" altLang="en-US" sz="2500">
                <a:solidFill>
                  <a:srgbClr val="000000"/>
                </a:solidFill>
              </a:rPr>
              <a:t>” processing to take internal actions on data.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500">
                <a:solidFill>
                  <a:srgbClr val="FF0066"/>
                </a:solidFill>
              </a:rPr>
              <a:t>Presentation and Visualization </a:t>
            </a:r>
            <a:r>
              <a:rPr lang="en-US" altLang="en-US" sz="2500">
                <a:solidFill>
                  <a:srgbClr val="000000"/>
                </a:solidFill>
              </a:rPr>
              <a:t>of data.</a:t>
            </a:r>
            <a:endParaRPr lang="en-US" altLang="en-US" sz="2500"/>
          </a:p>
          <a:p>
            <a:pPr eaLnBrk="1" hangingPunct="1">
              <a:lnSpc>
                <a:spcPct val="90000"/>
              </a:lnSpc>
            </a:pPr>
            <a:endParaRPr lang="en-US" altLang="en-US" sz="25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966" y="0"/>
            <a:ext cx="7772400" cy="1143000"/>
          </a:xfrm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105" dirty="0"/>
              <a:t> 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312" y="1532459"/>
            <a:ext cx="7962265" cy="38582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745"/>
              </a:spcBef>
              <a:buClr>
                <a:srgbClr val="990033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Users</a:t>
            </a:r>
            <a:r>
              <a:rPr sz="2800" spc="-7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may</a:t>
            </a:r>
            <a:r>
              <a:rPr sz="2800" spc="-8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be</a:t>
            </a:r>
            <a:r>
              <a:rPr sz="28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divided</a:t>
            </a:r>
            <a:r>
              <a:rPr sz="2800" spc="-7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 MT"/>
                <a:cs typeface="Arial MT"/>
              </a:rPr>
              <a:t>into</a:t>
            </a:r>
            <a:endParaRPr sz="2800" dirty="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0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actually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6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control the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database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content,</a:t>
            </a:r>
            <a:r>
              <a:rPr sz="26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design,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develop</a:t>
            </a:r>
            <a:r>
              <a:rPr sz="26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maintain</a:t>
            </a:r>
            <a:r>
              <a:rPr sz="26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6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(called</a:t>
            </a:r>
            <a:r>
              <a:rPr sz="26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“Actors</a:t>
            </a:r>
            <a:r>
              <a:rPr sz="26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on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Scene”),</a:t>
            </a:r>
            <a:r>
              <a:rPr sz="26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endParaRPr sz="2600" dirty="0">
              <a:latin typeface="Arial MT"/>
              <a:cs typeface="Arial MT"/>
            </a:endParaRPr>
          </a:p>
          <a:p>
            <a:pPr marL="756285" marR="351155" lvl="1" indent="-287020" algn="just">
              <a:lnSpc>
                <a:spcPct val="100000"/>
              </a:lnSpc>
              <a:spcBef>
                <a:spcPts val="60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Those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design</a:t>
            </a:r>
            <a:r>
              <a:rPr sz="26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develop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0" dirty="0">
                <a:solidFill>
                  <a:srgbClr val="800000"/>
                </a:solidFill>
                <a:latin typeface="Arial MT"/>
                <a:cs typeface="Arial MT"/>
              </a:rPr>
              <a:t>DBMS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6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related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tools,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computer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600" spc="-114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operators</a:t>
            </a:r>
            <a:r>
              <a:rPr sz="26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(called</a:t>
            </a:r>
            <a:r>
              <a:rPr sz="26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“Workers</a:t>
            </a:r>
            <a:r>
              <a:rPr sz="2600" spc="-1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Behind</a:t>
            </a:r>
            <a:r>
              <a:rPr sz="26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Scene”).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9055" y="203313"/>
            <a:ext cx="64858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50" dirty="0"/>
              <a:t> </a:t>
            </a:r>
            <a:r>
              <a:rPr dirty="0"/>
              <a:t>Users</a:t>
            </a:r>
            <a:r>
              <a:rPr spc="-6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Actors</a:t>
            </a:r>
            <a:r>
              <a:rPr spc="-15" dirty="0"/>
              <a:t> </a:t>
            </a:r>
            <a:r>
              <a:rPr dirty="0"/>
              <a:t>on</a:t>
            </a:r>
            <a:r>
              <a:rPr spc="-25" dirty="0"/>
              <a:t> the </a:t>
            </a:r>
            <a:r>
              <a:rPr spc="-10" dirty="0"/>
              <a:t>Scene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312" y="1532459"/>
            <a:ext cx="8209280" cy="45605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745"/>
              </a:spcBef>
              <a:buClr>
                <a:srgbClr val="990033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Actors</a:t>
            </a:r>
            <a:r>
              <a:rPr sz="2800" spc="-9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on</a:t>
            </a:r>
            <a:r>
              <a:rPr sz="28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8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 MT"/>
                <a:cs typeface="Arial MT"/>
              </a:rPr>
              <a:t>scene</a:t>
            </a:r>
            <a:endParaRPr sz="2800" dirty="0">
              <a:latin typeface="Arial MT"/>
              <a:cs typeface="Arial MT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60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b="1" dirty="0">
                <a:solidFill>
                  <a:srgbClr val="800000"/>
                </a:solidFill>
                <a:latin typeface="Arial"/>
                <a:cs typeface="Arial"/>
              </a:rPr>
              <a:t>Database</a:t>
            </a:r>
            <a:r>
              <a:rPr sz="2600" b="1" spc="-9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800000"/>
                </a:solidFill>
                <a:latin typeface="Arial"/>
                <a:cs typeface="Arial"/>
              </a:rPr>
              <a:t>administrators:</a:t>
            </a:r>
            <a:endParaRPr sz="2600" dirty="0">
              <a:latin typeface="Arial"/>
              <a:cs typeface="Arial"/>
            </a:endParaRPr>
          </a:p>
          <a:p>
            <a:pPr marL="1155065" marR="5080" lvl="2" indent="-228600" algn="just">
              <a:lnSpc>
                <a:spcPct val="100000"/>
              </a:lnSpc>
              <a:spcBef>
                <a:spcPts val="61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Responsible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for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authorizing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access</a:t>
            </a:r>
            <a:r>
              <a:rPr sz="2400" spc="-5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database,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for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coordinating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monitoring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its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use,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acquiring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software</a:t>
            </a:r>
            <a:r>
              <a:rPr sz="2400" spc="-12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and</a:t>
            </a:r>
            <a:r>
              <a:rPr sz="2400" spc="-10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hardware</a:t>
            </a:r>
            <a:r>
              <a:rPr sz="2400" spc="-9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resources,</a:t>
            </a:r>
            <a:r>
              <a:rPr sz="2400" spc="-10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controlling</a:t>
            </a:r>
            <a:r>
              <a:rPr sz="2400" spc="-9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its</a:t>
            </a:r>
            <a:r>
              <a:rPr sz="2400" spc="-114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use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monitoring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efficiency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operations.</a:t>
            </a:r>
            <a:endParaRPr sz="2400" dirty="0">
              <a:latin typeface="Arial MT"/>
              <a:cs typeface="Arial MT"/>
            </a:endParaRPr>
          </a:p>
          <a:p>
            <a:pPr marL="756285" lvl="1" indent="-286385" algn="just">
              <a:lnSpc>
                <a:spcPct val="100000"/>
              </a:lnSpc>
              <a:spcBef>
                <a:spcPts val="59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b="1" dirty="0">
                <a:solidFill>
                  <a:srgbClr val="800000"/>
                </a:solidFill>
                <a:latin typeface="Arial"/>
                <a:cs typeface="Arial"/>
              </a:rPr>
              <a:t>Database</a:t>
            </a:r>
            <a:r>
              <a:rPr sz="2600" b="1" spc="-10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800000"/>
                </a:solidFill>
                <a:latin typeface="Arial"/>
                <a:cs typeface="Arial"/>
              </a:rPr>
              <a:t>Designers:</a:t>
            </a:r>
            <a:endParaRPr sz="2600" dirty="0">
              <a:latin typeface="Arial"/>
              <a:cs typeface="Arial"/>
            </a:endParaRPr>
          </a:p>
          <a:p>
            <a:pPr marL="1155065" marR="83185" lvl="2" indent="-228600" algn="just">
              <a:lnSpc>
                <a:spcPct val="100000"/>
              </a:lnSpc>
              <a:spcBef>
                <a:spcPts val="61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Responsible</a:t>
            </a:r>
            <a:r>
              <a:rPr sz="2400" spc="-2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to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define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content,</a:t>
            </a:r>
            <a:r>
              <a:rPr sz="2400" spc="-8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400" spc="-4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structure,</a:t>
            </a:r>
            <a:r>
              <a:rPr sz="2400" spc="-9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constraints,</a:t>
            </a:r>
            <a:r>
              <a:rPr sz="2400" spc="-8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functions</a:t>
            </a:r>
            <a:r>
              <a:rPr sz="2400" spc="-9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or</a:t>
            </a:r>
            <a:r>
              <a:rPr sz="2400" spc="-7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transactions</a:t>
            </a:r>
            <a:r>
              <a:rPr sz="2400" spc="-10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against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database.</a:t>
            </a:r>
            <a:r>
              <a:rPr sz="2400" spc="-10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They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must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communicate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with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 the</a:t>
            </a:r>
            <a:endParaRPr sz="2400" dirty="0">
              <a:latin typeface="Arial MT"/>
              <a:cs typeface="Arial MT"/>
            </a:endParaRPr>
          </a:p>
          <a:p>
            <a:pPr marL="1155065" algn="just">
              <a:lnSpc>
                <a:spcPct val="100000"/>
              </a:lnSpc>
            </a:pP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end-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users</a:t>
            </a:r>
            <a:r>
              <a:rPr sz="24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and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understand</a:t>
            </a:r>
            <a:r>
              <a:rPr sz="2400" spc="-7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their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needs.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7490" y="6577076"/>
            <a:ext cx="88709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990033"/>
                </a:solidFill>
                <a:latin typeface="Arial"/>
                <a:cs typeface="Arial"/>
              </a:rPr>
              <a:t>Slide</a:t>
            </a:r>
            <a:r>
              <a:rPr sz="1400" b="1" spc="-8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0033"/>
                </a:solidFill>
                <a:latin typeface="Arial"/>
                <a:cs typeface="Arial"/>
              </a:rPr>
              <a:t>1-</a:t>
            </a:r>
            <a:r>
              <a:rPr sz="1400" b="1" spc="-45" dirty="0">
                <a:solidFill>
                  <a:srgbClr val="99003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990033"/>
                </a:solidFill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-292000"/>
            <a:ext cx="7007772" cy="1257523"/>
          </a:xfrm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80" dirty="0"/>
              <a:t> </a:t>
            </a:r>
            <a:r>
              <a:rPr dirty="0"/>
              <a:t>End</a:t>
            </a:r>
            <a:r>
              <a:rPr spc="-10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1068933"/>
            <a:ext cx="8102600" cy="50285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500"/>
              </a:spcBef>
              <a:buClr>
                <a:srgbClr val="990033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Actors</a:t>
            </a:r>
            <a:r>
              <a:rPr sz="2800" spc="-9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on</a:t>
            </a:r>
            <a:r>
              <a:rPr sz="2800" spc="-7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800" spc="-5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scene</a:t>
            </a:r>
            <a:r>
              <a:rPr sz="2800" spc="-7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 MT"/>
                <a:cs typeface="Arial MT"/>
              </a:rPr>
              <a:t>(continued)</a:t>
            </a:r>
            <a:endParaRPr sz="2800" dirty="0">
              <a:latin typeface="Arial MT"/>
              <a:cs typeface="Arial MT"/>
            </a:endParaRPr>
          </a:p>
          <a:p>
            <a:pPr marL="756285" marR="5080" lvl="1" indent="-287020" algn="just">
              <a:lnSpc>
                <a:spcPct val="89800"/>
              </a:lnSpc>
              <a:spcBef>
                <a:spcPts val="69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b="1" dirty="0">
                <a:solidFill>
                  <a:srgbClr val="800000"/>
                </a:solidFill>
                <a:latin typeface="Arial"/>
                <a:cs typeface="Arial"/>
              </a:rPr>
              <a:t>End-users:</a:t>
            </a:r>
            <a:r>
              <a:rPr sz="2600" b="1" spc="-5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They</a:t>
            </a:r>
            <a:r>
              <a:rPr sz="26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queries,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reports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some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them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update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content. </a:t>
            </a:r>
            <a:r>
              <a:rPr sz="2600" spc="-20" dirty="0">
                <a:solidFill>
                  <a:srgbClr val="800000"/>
                </a:solidFill>
                <a:latin typeface="Arial MT"/>
                <a:cs typeface="Arial MT"/>
              </a:rPr>
              <a:t>End-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6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can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be</a:t>
            </a:r>
            <a:r>
              <a:rPr sz="2600" spc="-1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categorized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into:</a:t>
            </a:r>
            <a:endParaRPr sz="2600" dirty="0">
              <a:latin typeface="Arial MT"/>
              <a:cs typeface="Arial MT"/>
            </a:endParaRPr>
          </a:p>
          <a:p>
            <a:pPr marL="1155065" marR="932815" lvl="2" indent="-228600" algn="just">
              <a:lnSpc>
                <a:spcPts val="2590"/>
              </a:lnSpc>
              <a:spcBef>
                <a:spcPts val="66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Casual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:</a:t>
            </a:r>
            <a:r>
              <a:rPr sz="2400" spc="-1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access</a:t>
            </a:r>
            <a:r>
              <a:rPr sz="2400" spc="-12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database</a:t>
            </a:r>
            <a:r>
              <a:rPr sz="2400" spc="-1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occasionally</a:t>
            </a:r>
            <a:r>
              <a:rPr sz="24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Arial MT"/>
                <a:cs typeface="Arial MT"/>
              </a:rPr>
              <a:t>when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needed</a:t>
            </a:r>
            <a:endParaRPr sz="2400" dirty="0">
              <a:latin typeface="Arial MT"/>
              <a:cs typeface="Arial MT"/>
            </a:endParaRPr>
          </a:p>
          <a:p>
            <a:pPr marL="1155065" lvl="2" indent="-227965" algn="just">
              <a:lnSpc>
                <a:spcPts val="2740"/>
              </a:lnSpc>
              <a:spcBef>
                <a:spcPts val="295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Naïve</a:t>
            </a:r>
            <a:r>
              <a:rPr sz="2400" b="1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or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Parametric:</a:t>
            </a:r>
            <a:r>
              <a:rPr sz="24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they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make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up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</a:t>
            </a:r>
            <a:r>
              <a:rPr sz="2400" spc="-3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large</a:t>
            </a:r>
            <a:r>
              <a:rPr sz="2400" spc="-3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section</a:t>
            </a:r>
            <a:endParaRPr sz="2400" dirty="0">
              <a:latin typeface="Arial MT"/>
              <a:cs typeface="Arial MT"/>
            </a:endParaRPr>
          </a:p>
          <a:p>
            <a:pPr marL="1155065" algn="just">
              <a:lnSpc>
                <a:spcPts val="2740"/>
              </a:lnSpc>
            </a:pP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Arial MT"/>
                <a:cs typeface="Arial MT"/>
              </a:rPr>
              <a:t>end-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user</a:t>
            </a:r>
            <a:r>
              <a:rPr sz="2400" spc="-3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population.</a:t>
            </a:r>
            <a:endParaRPr sz="2400" dirty="0">
              <a:latin typeface="Arial MT"/>
              <a:cs typeface="Arial MT"/>
            </a:endParaRPr>
          </a:p>
          <a:p>
            <a:pPr marL="1612265" marR="182880" lvl="3" indent="-228600" algn="just">
              <a:lnSpc>
                <a:spcPts val="2300"/>
              </a:lnSpc>
              <a:spcBef>
                <a:spcPts val="259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16122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They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previously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well-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defined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functions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form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“canned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transactions”</a:t>
            </a:r>
            <a:r>
              <a:rPr sz="2000" spc="-1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against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 dirty="0">
              <a:latin typeface="Arial MT"/>
              <a:cs typeface="Arial MT"/>
            </a:endParaRPr>
          </a:p>
          <a:p>
            <a:pPr marL="1611630" lvl="3" indent="-227965" algn="just">
              <a:lnSpc>
                <a:spcPct val="100000"/>
              </a:lnSpc>
              <a:spcBef>
                <a:spcPts val="150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1611630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Mobile</a:t>
            </a:r>
            <a:r>
              <a:rPr sz="2000" spc="-1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Apps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mostly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fall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this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category</a:t>
            </a:r>
            <a:endParaRPr sz="2000" dirty="0">
              <a:latin typeface="Arial MT"/>
              <a:cs typeface="Arial MT"/>
            </a:endParaRPr>
          </a:p>
          <a:p>
            <a:pPr marL="1612265" marR="413384" lvl="3" indent="-228600" algn="just">
              <a:lnSpc>
                <a:spcPts val="2200"/>
              </a:lnSpc>
              <a:spcBef>
                <a:spcPts val="540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16122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Bank-tellers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or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reservation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clerks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parametric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users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do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this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activity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entire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shift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operations.</a:t>
            </a:r>
            <a:endParaRPr sz="2000" dirty="0">
              <a:latin typeface="Arial MT"/>
              <a:cs typeface="Arial MT"/>
            </a:endParaRPr>
          </a:p>
          <a:p>
            <a:pPr marL="1611630" lvl="3" indent="-227965" algn="just">
              <a:lnSpc>
                <a:spcPct val="100000"/>
              </a:lnSpc>
              <a:spcBef>
                <a:spcPts val="160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1611630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Social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Media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post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read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information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from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539" y="6511543"/>
            <a:ext cx="3101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 MT"/>
                <a:cs typeface="Arial MT"/>
              </a:rPr>
              <a:t>Copyright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©</a:t>
            </a:r>
            <a:r>
              <a:rPr sz="900" spc="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2016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55" dirty="0">
                <a:latin typeface="Arial MT"/>
                <a:cs typeface="Arial MT"/>
              </a:rPr>
              <a:t>R</a:t>
            </a:r>
            <a:r>
              <a:rPr sz="3000" spc="-2175" baseline="6944" dirty="0">
                <a:solidFill>
                  <a:srgbClr val="800000"/>
                </a:solidFill>
                <a:latin typeface="Arial MT"/>
                <a:cs typeface="Arial MT"/>
              </a:rPr>
              <a:t>w</a:t>
            </a:r>
            <a:r>
              <a:rPr sz="900" spc="-1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m</a:t>
            </a:r>
            <a:r>
              <a:rPr sz="900" spc="-345" dirty="0">
                <a:latin typeface="Arial MT"/>
                <a:cs typeface="Arial MT"/>
              </a:rPr>
              <a:t>e</a:t>
            </a:r>
            <a:r>
              <a:rPr sz="3000" spc="-1207" baseline="6944" dirty="0">
                <a:solidFill>
                  <a:srgbClr val="800000"/>
                </a:solidFill>
                <a:latin typeface="Arial MT"/>
                <a:cs typeface="Arial MT"/>
              </a:rPr>
              <a:t>e</a:t>
            </a:r>
            <a:r>
              <a:rPr sz="900" spc="-10" dirty="0">
                <a:latin typeface="Arial MT"/>
                <a:cs typeface="Arial MT"/>
              </a:rPr>
              <a:t>z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530" dirty="0">
                <a:latin typeface="Arial MT"/>
                <a:cs typeface="Arial MT"/>
              </a:rPr>
              <a:t>E</a:t>
            </a:r>
            <a:r>
              <a:rPr sz="3000" spc="-914" baseline="6944" dirty="0">
                <a:solidFill>
                  <a:srgbClr val="800000"/>
                </a:solidFill>
                <a:latin typeface="Arial MT"/>
                <a:cs typeface="Arial MT"/>
              </a:rPr>
              <a:t>b</a:t>
            </a:r>
            <a:r>
              <a:rPr sz="900" spc="-10" dirty="0">
                <a:latin typeface="Arial MT"/>
                <a:cs typeface="Arial MT"/>
              </a:rPr>
              <a:t>l</a:t>
            </a:r>
            <a:r>
              <a:rPr sz="900" spc="-370" dirty="0">
                <a:latin typeface="Arial MT"/>
                <a:cs typeface="Arial MT"/>
              </a:rPr>
              <a:t>m</a:t>
            </a:r>
            <a:r>
              <a:rPr sz="3000" spc="-982" baseline="6944" dirty="0">
                <a:solidFill>
                  <a:srgbClr val="800000"/>
                </a:solidFill>
                <a:latin typeface="Arial MT"/>
                <a:cs typeface="Arial MT"/>
              </a:rPr>
              <a:t>s</a:t>
            </a:r>
            <a:r>
              <a:rPr sz="900" spc="-10" dirty="0">
                <a:latin typeface="Arial MT"/>
                <a:cs typeface="Arial MT"/>
              </a:rPr>
              <a:t>a</a:t>
            </a:r>
            <a:r>
              <a:rPr sz="900" spc="-305" dirty="0">
                <a:latin typeface="Arial MT"/>
                <a:cs typeface="Arial MT"/>
              </a:rPr>
              <a:t>s</a:t>
            </a:r>
            <a:r>
              <a:rPr sz="3000" spc="-247" baseline="6944" dirty="0">
                <a:solidFill>
                  <a:srgbClr val="800000"/>
                </a:solidFill>
                <a:latin typeface="Arial MT"/>
                <a:cs typeface="Arial MT"/>
              </a:rPr>
              <a:t>i</a:t>
            </a:r>
            <a:r>
              <a:rPr sz="900" spc="-175" dirty="0">
                <a:latin typeface="Arial MT"/>
                <a:cs typeface="Arial MT"/>
              </a:rPr>
              <a:t>r</a:t>
            </a:r>
            <a:r>
              <a:rPr sz="3000" spc="-622" baseline="6944" dirty="0">
                <a:solidFill>
                  <a:srgbClr val="800000"/>
                </a:solidFill>
                <a:latin typeface="Arial MT"/>
                <a:cs typeface="Arial MT"/>
              </a:rPr>
              <a:t>t</a:t>
            </a:r>
            <a:r>
              <a:rPr sz="900" spc="-10" dirty="0">
                <a:latin typeface="Arial MT"/>
                <a:cs typeface="Arial MT"/>
              </a:rPr>
              <a:t>i</a:t>
            </a:r>
            <a:r>
              <a:rPr sz="900" spc="-85" dirty="0">
                <a:latin typeface="Arial MT"/>
                <a:cs typeface="Arial MT"/>
              </a:rPr>
              <a:t> </a:t>
            </a:r>
            <a:r>
              <a:rPr sz="3000" spc="-1657" baseline="6944" dirty="0">
                <a:solidFill>
                  <a:srgbClr val="800000"/>
                </a:solidFill>
                <a:latin typeface="Arial MT"/>
                <a:cs typeface="Arial MT"/>
              </a:rPr>
              <a:t>e</a:t>
            </a:r>
            <a:r>
              <a:rPr sz="900" spc="-10" dirty="0">
                <a:latin typeface="Arial MT"/>
                <a:cs typeface="Arial MT"/>
              </a:rPr>
              <a:t>an</a:t>
            </a:r>
            <a:r>
              <a:rPr sz="900" spc="-430" dirty="0">
                <a:latin typeface="Arial MT"/>
                <a:cs typeface="Arial MT"/>
              </a:rPr>
              <a:t>d</a:t>
            </a:r>
            <a:r>
              <a:rPr sz="3000" spc="-532" baseline="6944" dirty="0">
                <a:solidFill>
                  <a:srgbClr val="800000"/>
                </a:solidFill>
                <a:latin typeface="Arial MT"/>
                <a:cs typeface="Arial MT"/>
              </a:rPr>
              <a:t>s</a:t>
            </a:r>
            <a:r>
              <a:rPr sz="900" spc="-15" dirty="0">
                <a:latin typeface="Arial MT"/>
                <a:cs typeface="Arial MT"/>
              </a:rPr>
              <a:t>S</a:t>
            </a:r>
            <a:r>
              <a:rPr sz="900" spc="-10" dirty="0">
                <a:latin typeface="Arial MT"/>
                <a:cs typeface="Arial MT"/>
              </a:rPr>
              <a:t>h</a:t>
            </a:r>
            <a:r>
              <a:rPr sz="900" spc="-2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mk</a:t>
            </a:r>
            <a:r>
              <a:rPr sz="900" spc="-20" dirty="0">
                <a:latin typeface="Arial MT"/>
                <a:cs typeface="Arial MT"/>
              </a:rPr>
              <a:t>an</a:t>
            </a:r>
            <a:r>
              <a:rPr sz="900" spc="-10" dirty="0">
                <a:latin typeface="Arial MT"/>
                <a:cs typeface="Arial MT"/>
              </a:rPr>
              <a:t>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B.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Navathe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071" y="0"/>
            <a:ext cx="7772400" cy="1143000"/>
          </a:xfrm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110" dirty="0"/>
              <a:t> </a:t>
            </a:r>
            <a:r>
              <a:rPr dirty="0"/>
              <a:t>End</a:t>
            </a:r>
            <a:r>
              <a:rPr spc="-55" dirty="0"/>
              <a:t> </a:t>
            </a:r>
            <a:r>
              <a:rPr dirty="0"/>
              <a:t>Users</a:t>
            </a:r>
            <a:r>
              <a:rPr spc="-45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1541578"/>
            <a:ext cx="7223759" cy="42767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0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0665" algn="l"/>
              </a:tabLst>
            </a:pP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Sophisticated:</a:t>
            </a:r>
            <a:endParaRPr sz="2400" dirty="0">
              <a:latin typeface="Arial"/>
              <a:cs typeface="Arial"/>
            </a:endParaRPr>
          </a:p>
          <a:p>
            <a:pPr marL="697865" marR="362585" lvl="1" indent="-228600" algn="just">
              <a:lnSpc>
                <a:spcPct val="100000"/>
              </a:lnSpc>
              <a:spcBef>
                <a:spcPts val="509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6978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These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include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business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analysts,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scientists,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engineers,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others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thoroughly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familiar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capabilities.</a:t>
            </a:r>
            <a:endParaRPr sz="2000" dirty="0">
              <a:latin typeface="Arial MT"/>
              <a:cs typeface="Arial MT"/>
            </a:endParaRPr>
          </a:p>
          <a:p>
            <a:pPr marL="697230" lvl="1" indent="-227965" algn="just">
              <a:lnSpc>
                <a:spcPct val="100000"/>
              </a:lnSpc>
              <a:spcBef>
                <a:spcPts val="495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697230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Many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tools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form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packages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work</a:t>
            </a:r>
            <a:endParaRPr sz="2000" dirty="0">
              <a:latin typeface="Arial MT"/>
              <a:cs typeface="Arial MT"/>
            </a:endParaRPr>
          </a:p>
          <a:p>
            <a:pPr marL="697865" algn="just">
              <a:lnSpc>
                <a:spcPct val="100000"/>
              </a:lnSpc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closely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stored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 dirty="0">
              <a:latin typeface="Arial MT"/>
              <a:cs typeface="Arial MT"/>
            </a:endParaRPr>
          </a:p>
          <a:p>
            <a:pPr marL="240665" indent="-227965" algn="just">
              <a:lnSpc>
                <a:spcPct val="100000"/>
              </a:lnSpc>
              <a:spcBef>
                <a:spcPts val="595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0665" algn="l"/>
              </a:tabLst>
            </a:pP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Stand-alone:</a:t>
            </a:r>
            <a:endParaRPr sz="2400" dirty="0">
              <a:latin typeface="Arial"/>
              <a:cs typeface="Arial"/>
            </a:endParaRPr>
          </a:p>
          <a:p>
            <a:pPr marL="697865" marR="307975" lvl="1" indent="-228600" algn="just">
              <a:lnSpc>
                <a:spcPct val="100000"/>
              </a:lnSpc>
              <a:spcBef>
                <a:spcPts val="509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6978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Mostly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maintain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personal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databases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using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ready-to-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use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packaged</a:t>
            </a:r>
            <a:r>
              <a:rPr sz="2000" spc="-1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applications.</a:t>
            </a:r>
            <a:endParaRPr sz="2000" dirty="0">
              <a:latin typeface="Arial MT"/>
              <a:cs typeface="Arial MT"/>
            </a:endParaRPr>
          </a:p>
          <a:p>
            <a:pPr marL="697865" marR="334645" lvl="1" indent="-228600" algn="just">
              <a:lnSpc>
                <a:spcPct val="100000"/>
              </a:lnSpc>
              <a:spcBef>
                <a:spcPts val="505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6978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example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tax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program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creates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its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own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internal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database.</a:t>
            </a:r>
            <a:endParaRPr sz="2000" dirty="0">
              <a:latin typeface="Arial MT"/>
              <a:cs typeface="Arial MT"/>
            </a:endParaRPr>
          </a:p>
          <a:p>
            <a:pPr marL="697865" marR="337185" lvl="1" indent="-228600" algn="just">
              <a:lnSpc>
                <a:spcPct val="100000"/>
              </a:lnSpc>
              <a:spcBef>
                <a:spcPts val="490"/>
              </a:spcBef>
              <a:buClr>
                <a:srgbClr val="333399"/>
              </a:buClr>
              <a:buSzPct val="55000"/>
              <a:buFont typeface="Wingdings"/>
              <a:buChar char=""/>
              <a:tabLst>
                <a:tab pos="697865" algn="l"/>
              </a:tabLst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Another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example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maintains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of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personal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photos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videos.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8737" y="115061"/>
            <a:ext cx="64865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60" dirty="0"/>
              <a:t> </a:t>
            </a:r>
            <a:r>
              <a:rPr dirty="0"/>
              <a:t>Users</a:t>
            </a:r>
            <a:r>
              <a:rPr spc="-4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Actors</a:t>
            </a:r>
            <a:r>
              <a:rPr spc="-2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dirty="0"/>
              <a:t>Scene</a:t>
            </a:r>
            <a:r>
              <a:rPr spc="-80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456024"/>
            <a:ext cx="7190740" cy="502348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1075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0665" algn="l"/>
              </a:tabLst>
            </a:pP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System</a:t>
            </a:r>
            <a:r>
              <a:rPr sz="2400" b="1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Analysts</a:t>
            </a:r>
            <a:r>
              <a:rPr sz="2400" b="1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400" b="1" spc="-1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Application</a:t>
            </a:r>
            <a:r>
              <a:rPr sz="2400" b="1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Developers</a:t>
            </a:r>
            <a:endParaRPr sz="2400" dirty="0">
              <a:latin typeface="Arial"/>
              <a:cs typeface="Arial"/>
            </a:endParaRPr>
          </a:p>
          <a:p>
            <a:pPr marL="241300" marR="57785" indent="276860" algn="just">
              <a:lnSpc>
                <a:spcPct val="103099"/>
              </a:lnSpc>
              <a:spcBef>
                <a:spcPts val="745"/>
              </a:spcBef>
            </a:pP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This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category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currently</a:t>
            </a:r>
            <a:r>
              <a:rPr sz="2000" spc="-1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accounts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very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large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proportion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IT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work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force.</a:t>
            </a:r>
            <a:endParaRPr sz="2000" dirty="0">
              <a:latin typeface="Arial MT"/>
              <a:cs typeface="Arial MT"/>
            </a:endParaRPr>
          </a:p>
          <a:p>
            <a:pPr marL="697865" marR="5080" lvl="1" indent="-228600" algn="just">
              <a:lnSpc>
                <a:spcPct val="100000"/>
              </a:lnSpc>
              <a:spcBef>
                <a:spcPts val="755"/>
              </a:spcBef>
              <a:buSzPct val="54166"/>
              <a:buFont typeface="Wingdings"/>
              <a:buChar char=""/>
              <a:tabLst>
                <a:tab pos="697865" algn="l"/>
                <a:tab pos="4161154" algn="l"/>
              </a:tabLst>
            </a:pPr>
            <a:r>
              <a:rPr sz="2400" b="1" spc="-20" dirty="0">
                <a:solidFill>
                  <a:srgbClr val="333399"/>
                </a:solidFill>
                <a:latin typeface="Arial"/>
                <a:cs typeface="Arial"/>
              </a:rPr>
              <a:t>System</a:t>
            </a:r>
            <a:r>
              <a:rPr sz="2400" b="1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Analysts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: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They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understand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user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requirements</a:t>
            </a:r>
            <a:r>
              <a:rPr sz="2000" spc="-1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naïve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sophisticated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design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including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 canned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	transactions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meet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those requirements.</a:t>
            </a:r>
            <a:endParaRPr sz="2000" dirty="0">
              <a:latin typeface="Arial MT"/>
              <a:cs typeface="Arial MT"/>
            </a:endParaRPr>
          </a:p>
          <a:p>
            <a:pPr marL="697865" marR="153670" lvl="1" indent="-228600" algn="just">
              <a:lnSpc>
                <a:spcPct val="100000"/>
              </a:lnSpc>
              <a:spcBef>
                <a:spcPts val="600"/>
              </a:spcBef>
              <a:buSzPct val="54166"/>
              <a:buFont typeface="Wingdings"/>
              <a:buChar char=""/>
              <a:tabLst>
                <a:tab pos="697865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Application</a:t>
            </a:r>
            <a:r>
              <a:rPr sz="2400" b="1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Programmers:</a:t>
            </a:r>
            <a:r>
              <a:rPr sz="2400" b="1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Implement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specifications</a:t>
            </a:r>
            <a:r>
              <a:rPr sz="2000" spc="-1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developed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analysts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test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debug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them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before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deployment.</a:t>
            </a:r>
            <a:endParaRPr sz="2000" dirty="0">
              <a:latin typeface="Arial MT"/>
              <a:cs typeface="Arial MT"/>
            </a:endParaRPr>
          </a:p>
          <a:p>
            <a:pPr marL="697865" marR="167640" lvl="1" indent="-228600" algn="just">
              <a:lnSpc>
                <a:spcPct val="100000"/>
              </a:lnSpc>
              <a:spcBef>
                <a:spcPts val="605"/>
              </a:spcBef>
              <a:buSzPct val="54166"/>
              <a:buFont typeface="Wingdings"/>
              <a:buChar char=""/>
              <a:tabLst>
                <a:tab pos="697865" algn="l"/>
              </a:tabLst>
            </a:pPr>
            <a:r>
              <a:rPr sz="2400" b="1" spc="-20" dirty="0">
                <a:solidFill>
                  <a:srgbClr val="333399"/>
                </a:solidFill>
                <a:latin typeface="Arial"/>
                <a:cs typeface="Arial"/>
              </a:rPr>
              <a:t>Business</a:t>
            </a:r>
            <a:r>
              <a:rPr sz="2400" b="1" spc="-1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Analysts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: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There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increasing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need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for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such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people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who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can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analyze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vast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amounts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business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real-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time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(“Big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Data”)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better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decision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making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related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planning,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advertising,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marketing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etc.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26124"/>
            <a:ext cx="777240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Database</a:t>
            </a:r>
            <a:r>
              <a:rPr spc="-60" dirty="0"/>
              <a:t> </a:t>
            </a:r>
            <a:r>
              <a:rPr dirty="0"/>
              <a:t>Users</a:t>
            </a:r>
            <a:r>
              <a:rPr spc="-4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Actors</a:t>
            </a:r>
            <a:r>
              <a:rPr spc="-30" dirty="0"/>
              <a:t> </a:t>
            </a:r>
            <a:r>
              <a:rPr dirty="0"/>
              <a:t>behind</a:t>
            </a:r>
            <a:r>
              <a:rPr spc="-60" dirty="0"/>
              <a:t> </a:t>
            </a:r>
            <a:r>
              <a:rPr spc="-25" dirty="0"/>
              <a:t>the </a:t>
            </a:r>
            <a:r>
              <a:rPr spc="-10" dirty="0"/>
              <a:t>Scene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580515"/>
            <a:ext cx="7245984" cy="445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1300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System</a:t>
            </a:r>
            <a:r>
              <a:rPr sz="2400" b="1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Designers</a:t>
            </a:r>
            <a:r>
              <a:rPr sz="2400" b="1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400" b="1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Implementors:</a:t>
            </a:r>
            <a:r>
              <a:rPr sz="2400" b="1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Design</a:t>
            </a:r>
            <a:r>
              <a:rPr sz="2000" spc="-10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implement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packages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form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modules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interfaces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test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debug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them.</a:t>
            </a:r>
            <a:r>
              <a:rPr sz="2000" spc="-114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must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interface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applications,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language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compilers,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operating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system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components,</a:t>
            </a:r>
            <a:r>
              <a:rPr sz="2000" spc="-1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etc.</a:t>
            </a:r>
            <a:endParaRPr sz="2000" dirty="0">
              <a:latin typeface="Arial MT"/>
              <a:cs typeface="Arial MT"/>
            </a:endParaRPr>
          </a:p>
          <a:p>
            <a:pPr marL="241300" marR="27305" indent="-228600" algn="just">
              <a:lnSpc>
                <a:spcPct val="100000"/>
              </a:lnSpc>
              <a:spcBef>
                <a:spcPts val="600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1300" algn="l"/>
                <a:tab pos="2045335" algn="l"/>
              </a:tabLst>
            </a:pPr>
            <a:r>
              <a:rPr sz="2400" b="1" spc="-25" dirty="0">
                <a:solidFill>
                  <a:srgbClr val="333399"/>
                </a:solidFill>
                <a:latin typeface="Arial"/>
                <a:cs typeface="Arial"/>
              </a:rPr>
              <a:t>Tool</a:t>
            </a:r>
            <a:r>
              <a:rPr sz="2400" b="1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Developers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:</a:t>
            </a:r>
            <a:r>
              <a:rPr sz="24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Design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implement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software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called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	tools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modeling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designing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databases,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performance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monitoring,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prototyping,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test</a:t>
            </a:r>
            <a:r>
              <a:rPr sz="20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generation,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user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interface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creation,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simulation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etc.</a:t>
            </a:r>
            <a:r>
              <a:rPr sz="20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facilitate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building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of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allow</a:t>
            </a:r>
            <a:r>
              <a:rPr sz="20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using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000" spc="-1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effectively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241300" marR="175895" indent="-228600" algn="just">
              <a:lnSpc>
                <a:spcPct val="100299"/>
              </a:lnSpc>
              <a:spcBef>
                <a:spcPts val="675"/>
              </a:spcBef>
              <a:buClr>
                <a:srgbClr val="990033"/>
              </a:buClr>
              <a:buSzPct val="50000"/>
              <a:buFont typeface="Wingdings"/>
              <a:buChar char=""/>
              <a:tabLst>
                <a:tab pos="241300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Operators</a:t>
            </a:r>
            <a:r>
              <a:rPr sz="2400" b="1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400" b="1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Maintenance</a:t>
            </a:r>
            <a:r>
              <a:rPr sz="2400" b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Personnel</a:t>
            </a:r>
            <a:r>
              <a:rPr sz="2800" b="1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2800" b="1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800000"/>
                </a:solidFill>
                <a:latin typeface="Arial MT"/>
                <a:cs typeface="Arial MT"/>
              </a:rPr>
              <a:t>They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manage</a:t>
            </a:r>
            <a:r>
              <a:rPr sz="20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actual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running</a:t>
            </a:r>
            <a:r>
              <a:rPr sz="20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maintenance</a:t>
            </a:r>
            <a:r>
              <a:rPr sz="20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0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database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0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hardware</a:t>
            </a:r>
            <a:r>
              <a:rPr sz="20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0000"/>
                </a:solidFill>
                <a:latin typeface="Arial MT"/>
                <a:cs typeface="Arial MT"/>
              </a:rPr>
              <a:t>software</a:t>
            </a:r>
            <a:r>
              <a:rPr sz="20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0000"/>
                </a:solidFill>
                <a:latin typeface="Arial MT"/>
                <a:cs typeface="Arial MT"/>
              </a:rPr>
              <a:t>environment.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77" y="55984"/>
            <a:ext cx="7772400" cy="1143000"/>
          </a:xfrm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6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4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20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312" y="1548661"/>
            <a:ext cx="8152130" cy="468185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0"/>
              </a:spcBef>
              <a:buClr>
                <a:srgbClr val="990033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Main</a:t>
            </a:r>
            <a:r>
              <a:rPr sz="2400" spc="-8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inhibitors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(costs)</a:t>
            </a:r>
            <a:r>
              <a:rPr sz="2400" spc="-9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of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using</a:t>
            </a:r>
            <a:r>
              <a:rPr sz="24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DBMS:</a:t>
            </a:r>
            <a:endParaRPr sz="2400" dirty="0">
              <a:latin typeface="Arial MT"/>
              <a:cs typeface="Arial MT"/>
            </a:endParaRPr>
          </a:p>
          <a:p>
            <a:pPr marL="756285" marR="653415" lvl="1" indent="-287020">
              <a:lnSpc>
                <a:spcPct val="100000"/>
              </a:lnSpc>
              <a:spcBef>
                <a:spcPts val="500"/>
              </a:spcBef>
              <a:buClr>
                <a:srgbClr val="333399"/>
              </a:buClr>
              <a:buSzPct val="54545"/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High</a:t>
            </a:r>
            <a:r>
              <a:rPr sz="22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initial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investment</a:t>
            </a:r>
            <a:r>
              <a:rPr sz="22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possible</a:t>
            </a:r>
            <a:r>
              <a:rPr sz="2200" spc="-1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need</a:t>
            </a:r>
            <a:r>
              <a:rPr sz="22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additional hardware.</a:t>
            </a:r>
            <a:endParaRPr sz="2200" dirty="0">
              <a:latin typeface="Arial MT"/>
              <a:cs typeface="Arial MT"/>
            </a:endParaRPr>
          </a:p>
          <a:p>
            <a:pPr marL="756285" marR="505459" lvl="1" indent="-287020">
              <a:lnSpc>
                <a:spcPct val="100000"/>
              </a:lnSpc>
              <a:spcBef>
                <a:spcPts val="505"/>
              </a:spcBef>
              <a:buClr>
                <a:srgbClr val="333399"/>
              </a:buClr>
              <a:buSzPct val="54545"/>
              <a:buFont typeface="Wingdings"/>
              <a:buChar char=""/>
              <a:tabLst>
                <a:tab pos="756285" algn="l"/>
                <a:tab pos="3601720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Overhead</a:t>
            </a:r>
            <a:r>
              <a:rPr sz="22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for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providing</a:t>
            </a:r>
            <a:r>
              <a:rPr sz="22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generality,</a:t>
            </a:r>
            <a:r>
              <a:rPr sz="22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800000"/>
                </a:solidFill>
                <a:latin typeface="Arial MT"/>
                <a:cs typeface="Arial MT"/>
              </a:rPr>
              <a:t>security,</a:t>
            </a:r>
            <a:r>
              <a:rPr sz="2200" spc="-10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concurrency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control,</a:t>
            </a:r>
            <a:r>
              <a:rPr sz="2200" spc="-1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recovery,</a:t>
            </a:r>
            <a:r>
              <a:rPr sz="22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	integrity</a:t>
            </a:r>
            <a:r>
              <a:rPr sz="2200" spc="-1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functions.</a:t>
            </a:r>
            <a:endParaRPr sz="22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990033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When</a:t>
            </a:r>
            <a:r>
              <a:rPr sz="2400" spc="-8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</a:t>
            </a:r>
            <a:r>
              <a:rPr sz="2400" spc="-5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DBMS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may</a:t>
            </a:r>
            <a:r>
              <a:rPr sz="2400" spc="-5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be</a:t>
            </a:r>
            <a:r>
              <a:rPr sz="2400" spc="-4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unnecessary:</a:t>
            </a:r>
            <a:endParaRPr sz="2400" dirty="0">
              <a:latin typeface="Arial MT"/>
              <a:cs typeface="Arial MT"/>
            </a:endParaRPr>
          </a:p>
          <a:p>
            <a:pPr marL="756285" marR="379095" lvl="1" indent="-287020">
              <a:lnSpc>
                <a:spcPct val="100000"/>
              </a:lnSpc>
              <a:spcBef>
                <a:spcPts val="500"/>
              </a:spcBef>
              <a:buClr>
                <a:srgbClr val="333399"/>
              </a:buClr>
              <a:buSzPct val="54545"/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2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2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2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applications</a:t>
            </a:r>
            <a:r>
              <a:rPr sz="22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2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simple,</a:t>
            </a:r>
            <a:r>
              <a:rPr sz="22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well</a:t>
            </a:r>
            <a:r>
              <a:rPr sz="22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defined,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2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2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expected</a:t>
            </a:r>
            <a:r>
              <a:rPr sz="22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2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change.</a:t>
            </a:r>
            <a:endParaRPr sz="2200" dirty="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333399"/>
              </a:buClr>
              <a:buSzPct val="54545"/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access</a:t>
            </a:r>
            <a:r>
              <a:rPr sz="22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2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2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2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multiple</a:t>
            </a:r>
            <a:r>
              <a:rPr sz="22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2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2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2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required.</a:t>
            </a:r>
            <a:endParaRPr sz="22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990033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When</a:t>
            </a:r>
            <a:r>
              <a:rPr sz="2400" spc="-7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DBMS</a:t>
            </a:r>
            <a:r>
              <a:rPr sz="2400" spc="-2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may</a:t>
            </a:r>
            <a:r>
              <a:rPr sz="2400" spc="-4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99"/>
                </a:solidFill>
                <a:latin typeface="Arial MT"/>
                <a:cs typeface="Arial MT"/>
              </a:rPr>
              <a:t>be</a:t>
            </a:r>
            <a:r>
              <a:rPr sz="2400" spc="-3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 MT"/>
                <a:cs typeface="Arial MT"/>
              </a:rPr>
              <a:t>infeasible:</a:t>
            </a:r>
            <a:endParaRPr sz="2400" dirty="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09"/>
              </a:spcBef>
              <a:buClr>
                <a:srgbClr val="333399"/>
              </a:buClr>
              <a:buSzPct val="54545"/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2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embedded</a:t>
            </a:r>
            <a:r>
              <a:rPr sz="22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systems</a:t>
            </a:r>
            <a:r>
              <a:rPr sz="22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where</a:t>
            </a:r>
            <a:r>
              <a:rPr sz="22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general</a:t>
            </a:r>
            <a:r>
              <a:rPr sz="22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purpose</a:t>
            </a:r>
            <a:r>
              <a:rPr sz="2200" spc="-8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2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800000"/>
                </a:solidFill>
                <a:latin typeface="Arial MT"/>
                <a:cs typeface="Arial MT"/>
              </a:rPr>
              <a:t>may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fit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2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00000"/>
                </a:solidFill>
                <a:latin typeface="Arial MT"/>
                <a:cs typeface="Arial MT"/>
              </a:rPr>
              <a:t>available</a:t>
            </a:r>
            <a:r>
              <a:rPr sz="22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00000"/>
                </a:solidFill>
                <a:latin typeface="Arial MT"/>
                <a:cs typeface="Arial MT"/>
              </a:rPr>
              <a:t>storage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086" y="0"/>
            <a:ext cx="7772400" cy="1143000"/>
          </a:xfrm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6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4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20" dirty="0"/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8312" y="1525803"/>
            <a:ext cx="8132445" cy="44411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rgbClr val="990033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When</a:t>
            </a:r>
            <a:r>
              <a:rPr sz="2800" spc="-9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no</a:t>
            </a:r>
            <a:r>
              <a:rPr sz="2800" spc="-6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DBMS</a:t>
            </a:r>
            <a:r>
              <a:rPr sz="2800" spc="-60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33399"/>
                </a:solidFill>
                <a:latin typeface="Arial MT"/>
                <a:cs typeface="Arial MT"/>
              </a:rPr>
              <a:t>may</a:t>
            </a:r>
            <a:r>
              <a:rPr sz="2800" spc="-75" dirty="0">
                <a:solidFill>
                  <a:srgbClr val="33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 MT"/>
                <a:cs typeface="Arial MT"/>
              </a:rPr>
              <a:t>suffice:</a:t>
            </a:r>
            <a:endParaRPr sz="2800">
              <a:latin typeface="Arial MT"/>
              <a:cs typeface="Arial MT"/>
            </a:endParaRPr>
          </a:p>
          <a:p>
            <a:pPr marL="756285" marR="222885" lvl="1" indent="-287020">
              <a:lnSpc>
                <a:spcPct val="100000"/>
              </a:lnSpc>
              <a:spcBef>
                <a:spcPts val="695"/>
              </a:spcBef>
              <a:buClr>
                <a:srgbClr val="333399"/>
              </a:buClr>
              <a:buSzPct val="53571"/>
              <a:buFont typeface="Wingdings"/>
              <a:buChar char=""/>
              <a:tabLst>
                <a:tab pos="756285" algn="l"/>
              </a:tabLst>
            </a:pP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8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there</a:t>
            </a:r>
            <a:r>
              <a:rPr sz="28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are</a:t>
            </a:r>
            <a:r>
              <a:rPr sz="28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stringent</a:t>
            </a:r>
            <a:r>
              <a:rPr sz="28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800000"/>
                </a:solidFill>
                <a:latin typeface="Arial MT"/>
                <a:cs typeface="Arial MT"/>
              </a:rPr>
              <a:t>real-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time</a:t>
            </a:r>
            <a:r>
              <a:rPr sz="2800" spc="-10" dirty="0">
                <a:solidFill>
                  <a:srgbClr val="800000"/>
                </a:solidFill>
                <a:latin typeface="Arial MT"/>
                <a:cs typeface="Arial MT"/>
              </a:rPr>
              <a:t> requirements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that</a:t>
            </a:r>
            <a:r>
              <a:rPr sz="28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may</a:t>
            </a:r>
            <a:r>
              <a:rPr sz="28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8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be</a:t>
            </a:r>
            <a:r>
              <a:rPr sz="28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met</a:t>
            </a:r>
            <a:r>
              <a:rPr sz="28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because</a:t>
            </a:r>
            <a:r>
              <a:rPr sz="28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8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800000"/>
                </a:solidFill>
                <a:latin typeface="Arial MT"/>
                <a:cs typeface="Arial MT"/>
              </a:rPr>
              <a:t>DBMS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overhead</a:t>
            </a:r>
            <a:r>
              <a:rPr sz="2800" spc="-8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(e.g.,</a:t>
            </a:r>
            <a:r>
              <a:rPr sz="2800" spc="-1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telephone</a:t>
            </a:r>
            <a:r>
              <a:rPr sz="28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0000"/>
                </a:solidFill>
                <a:latin typeface="Arial MT"/>
                <a:cs typeface="Arial MT"/>
              </a:rPr>
              <a:t>switching</a:t>
            </a:r>
            <a:r>
              <a:rPr sz="2800" spc="-9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800000"/>
                </a:solidFill>
                <a:latin typeface="Arial MT"/>
                <a:cs typeface="Arial MT"/>
              </a:rPr>
              <a:t>systems)</a:t>
            </a:r>
            <a:endParaRPr sz="2800">
              <a:latin typeface="Arial MT"/>
              <a:cs typeface="Arial MT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10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-3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system</a:t>
            </a:r>
            <a:r>
              <a:rPr sz="26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is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not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able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to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handle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the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complexity</a:t>
            </a:r>
            <a:r>
              <a:rPr sz="2600" spc="-11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because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of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modeling</a:t>
            </a:r>
            <a:r>
              <a:rPr sz="2600" spc="-6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limitations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(e.g.,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in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complex</a:t>
            </a:r>
            <a:r>
              <a:rPr sz="26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genome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protein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databases)</a:t>
            </a:r>
            <a:endParaRPr sz="2600">
              <a:latin typeface="Arial MT"/>
              <a:cs typeface="Arial MT"/>
            </a:endParaRPr>
          </a:p>
          <a:p>
            <a:pPr marL="756285" marR="143510" lvl="1" indent="-287020">
              <a:lnSpc>
                <a:spcPct val="100000"/>
              </a:lnSpc>
              <a:spcBef>
                <a:spcPts val="605"/>
              </a:spcBef>
              <a:buClr>
                <a:srgbClr val="333399"/>
              </a:buClr>
              <a:buSzPct val="53846"/>
              <a:buFont typeface="Wingdings"/>
              <a:buChar char=""/>
              <a:tabLst>
                <a:tab pos="756285" algn="l"/>
              </a:tabLst>
            </a:pP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If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database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users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need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special</a:t>
            </a:r>
            <a:r>
              <a:rPr sz="2600" spc="-5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operations</a:t>
            </a:r>
            <a:r>
              <a:rPr sz="2600" spc="-4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800000"/>
                </a:solidFill>
                <a:latin typeface="Arial MT"/>
                <a:cs typeface="Arial MT"/>
              </a:rPr>
              <a:t>not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supported</a:t>
            </a:r>
            <a:r>
              <a:rPr sz="2600" spc="-7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by</a:t>
            </a:r>
            <a:r>
              <a:rPr sz="2600" spc="-3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the</a:t>
            </a:r>
            <a:r>
              <a:rPr sz="2600" spc="-7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DBMS</a:t>
            </a:r>
            <a:r>
              <a:rPr sz="26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(e.g.,</a:t>
            </a:r>
            <a:r>
              <a:rPr sz="2600" spc="-5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GIS</a:t>
            </a:r>
            <a:r>
              <a:rPr sz="2600" spc="-4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and</a:t>
            </a:r>
            <a:r>
              <a:rPr sz="2600" spc="-60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location </a:t>
            </a:r>
            <a:r>
              <a:rPr sz="2600" dirty="0">
                <a:solidFill>
                  <a:srgbClr val="800000"/>
                </a:solidFill>
                <a:latin typeface="Arial MT"/>
                <a:cs typeface="Arial MT"/>
              </a:rPr>
              <a:t>based</a:t>
            </a:r>
            <a:r>
              <a:rPr sz="2600" spc="-95" dirty="0">
                <a:solidFill>
                  <a:srgbClr val="800000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800000"/>
                </a:solidFill>
                <a:latin typeface="Arial MT"/>
                <a:cs typeface="Arial MT"/>
              </a:rPr>
              <a:t>services).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EB0686FA-C517-6550-9BAB-1CE2CB19B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8CBB7A6D-7C8C-410D-81A9-32B1F1837ACB}" type="slidenum">
              <a:rPr lang="en-US" altLang="en-US" sz="1600">
                <a:solidFill>
                  <a:schemeClr val="bg2"/>
                </a:solidFill>
              </a:rPr>
              <a:pPr/>
              <a:t>27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33795" name="AutoShape 4" descr="Mysuru Dasara: A grand celebration of ...">
            <a:extLst>
              <a:ext uri="{FF2B5EF4-FFF2-40B4-BE49-F238E27FC236}">
                <a16:creationId xmlns:a16="http://schemas.microsoft.com/office/drawing/2014/main" id="{E859E9FA-01A6-2766-DF73-2E6657DC04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33796" name="Picture 8" descr="C:\Users\User\Downloads\images.jpg">
            <a:extLst>
              <a:ext uri="{FF2B5EF4-FFF2-40B4-BE49-F238E27FC236}">
                <a16:creationId xmlns:a16="http://schemas.microsoft.com/office/drawing/2014/main" id="{A22A1EC7-7E70-4CDE-BD33-413B1CBA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3127375"/>
            <a:ext cx="5208587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9" descr="C:\Users\User\Downloads\download (4).jpg">
            <a:extLst>
              <a:ext uri="{FF2B5EF4-FFF2-40B4-BE49-F238E27FC236}">
                <a16:creationId xmlns:a16="http://schemas.microsoft.com/office/drawing/2014/main" id="{70CD4C87-C52C-7333-4006-F0A71C86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127375"/>
            <a:ext cx="3254375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10" descr="C:\Users\User\Downloads\Dasara-Feature-image-3-1.png">
            <a:extLst>
              <a:ext uri="{FF2B5EF4-FFF2-40B4-BE49-F238E27FC236}">
                <a16:creationId xmlns:a16="http://schemas.microsoft.com/office/drawing/2014/main" id="{48476C68-DB2B-C9C2-C166-3EA93E3FA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0"/>
            <a:ext cx="8683625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1A16E366-47E3-4633-0007-624CA5DF8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DF539E9F-4251-4267-BB77-956883B53AC0}" type="slidenum">
              <a:rPr lang="en-US" altLang="en-US" sz="1600">
                <a:solidFill>
                  <a:schemeClr val="bg2"/>
                </a:solidFill>
              </a:rPr>
              <a:pPr/>
              <a:t>28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34819" name="AutoShape 4" descr="Mysuru Dasara: A grand celebration of ...">
            <a:extLst>
              <a:ext uri="{FF2B5EF4-FFF2-40B4-BE49-F238E27FC236}">
                <a16:creationId xmlns:a16="http://schemas.microsoft.com/office/drawing/2014/main" id="{27A3E0DE-91A4-4D77-7291-3D606C5922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34820" name="Picture 10" descr="C:\Users\User\Downloads\Dasara-Feature-image-3-1.png">
            <a:extLst>
              <a:ext uri="{FF2B5EF4-FFF2-40B4-BE49-F238E27FC236}">
                <a16:creationId xmlns:a16="http://schemas.microsoft.com/office/drawing/2014/main" id="{17468FD0-B025-BC61-E466-BA10C0D02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0"/>
            <a:ext cx="8485188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2" descr="C:\Users\User\Downloads\mysuru-dasara1.jpg">
            <a:extLst>
              <a:ext uri="{FF2B5EF4-FFF2-40B4-BE49-F238E27FC236}">
                <a16:creationId xmlns:a16="http://schemas.microsoft.com/office/drawing/2014/main" id="{2061D617-FE7E-BA16-1D71-5ED97498F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127375"/>
            <a:ext cx="8485188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822955CE-82B0-886D-0F69-BAB6FB187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</a:rPr>
              <a:t>Slide 1-</a:t>
            </a:r>
            <a:fld id="{54ACC4D7-42CE-48C4-89FE-A26E7F2679EA}" type="slidenum">
              <a:rPr lang="en-US" altLang="en-US" sz="1600">
                <a:solidFill>
                  <a:schemeClr val="bg2"/>
                </a:solidFill>
              </a:rPr>
              <a:pPr/>
              <a:t>29</a:t>
            </a:fld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434F9C-A085-287C-C9AA-293505945DCE}"/>
              </a:ext>
            </a:extLst>
          </p:cNvPr>
          <p:cNvSpPr/>
          <p:nvPr/>
        </p:nvSpPr>
        <p:spPr>
          <a:xfrm>
            <a:off x="1130816" y="1933666"/>
            <a:ext cx="7695132" cy="92333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-28" charset="0"/>
              </a:rPr>
              <a:t>Thank you..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masri_navathe_pptemplate">
  <a:themeElements>
    <a:clrScheme name="">
      <a:dk1>
        <a:srgbClr val="000000"/>
      </a:dk1>
      <a:lt1>
        <a:srgbClr val="FFFFFF"/>
      </a:lt1>
      <a:dk2>
        <a:srgbClr val="3366CC"/>
      </a:dk2>
      <a:lt2>
        <a:srgbClr val="FFCC66"/>
      </a:lt2>
      <a:accent1>
        <a:srgbClr val="00FFFF"/>
      </a:accent1>
      <a:accent2>
        <a:srgbClr val="3366FF"/>
      </a:accent2>
      <a:accent3>
        <a:srgbClr val="ADB8E2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elmasri_navathe_pptemplat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elmasri_navathe_pptemplate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asri_navathe_pptemplate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asri_navathe_pptemplat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lmasri_navathe_pptemplate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lmasri_navathe_pptemplate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Eeyore:El Masri PowerPoint:elmasri_navathe_pptemplate.POT</Template>
  <TotalTime>833</TotalTime>
  <Words>1460</Words>
  <Application>Microsoft Office PowerPoint</Application>
  <PresentationFormat>On-screen Show (4:3)</PresentationFormat>
  <Paragraphs>171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Arial MT</vt:lpstr>
      <vt:lpstr>Calibri</vt:lpstr>
      <vt:lpstr>Times New Roman</vt:lpstr>
      <vt:lpstr>Wingdings</vt:lpstr>
      <vt:lpstr>elmasri_navathe_pptemplate</vt:lpstr>
      <vt:lpstr>Office Theme</vt:lpstr>
      <vt:lpstr>Database Management Systems  Module-1: Introduction to  Database Concepts and Architecture </vt:lpstr>
      <vt:lpstr>PowerPoint Presentation</vt:lpstr>
      <vt:lpstr>PowerPoint Presentation</vt:lpstr>
      <vt:lpstr>Introduction - Basic Definitions</vt:lpstr>
      <vt:lpstr>Introduction - Simplified Database System Environment</vt:lpstr>
      <vt:lpstr>PowerPoint Presentation</vt:lpstr>
      <vt:lpstr>Example – University Database</vt:lpstr>
      <vt:lpstr>Example – University Database</vt:lpstr>
      <vt:lpstr>Example - A database that stores student and course information.</vt:lpstr>
      <vt:lpstr>Example - A database that stores student and course information.</vt:lpstr>
      <vt:lpstr>Example - A database that stores student and course information.</vt:lpstr>
      <vt:lpstr>Characteristics of the Database Approach</vt:lpstr>
      <vt:lpstr>Characteristics of the Database Approach</vt:lpstr>
      <vt:lpstr>Characteristics of the Database Approach</vt:lpstr>
      <vt:lpstr>Characteristics of the Database Approach</vt:lpstr>
      <vt:lpstr>Advantages of Using the Database Approach</vt:lpstr>
      <vt:lpstr>Advantages of Using the Database Approach</vt:lpstr>
      <vt:lpstr>Typical DBMS Functionality</vt:lpstr>
      <vt:lpstr>Database Users</vt:lpstr>
      <vt:lpstr>Database Users – Actors on the Scene</vt:lpstr>
      <vt:lpstr>Database End Users</vt:lpstr>
      <vt:lpstr>Database End Users (continued)</vt:lpstr>
      <vt:lpstr>Database Users – Actors on the Scene (continued)</vt:lpstr>
      <vt:lpstr>Database Users – Actors behind the Scene</vt:lpstr>
      <vt:lpstr>When not to use a DBMS</vt:lpstr>
      <vt:lpstr>When not to use a DBMS</vt:lpstr>
      <vt:lpstr>PowerPoint Presentation</vt:lpstr>
      <vt:lpstr>PowerPoint Presentation</vt:lpstr>
      <vt:lpstr>PowerPoint Presentation</vt:lpstr>
    </vt:vector>
  </TitlesOfParts>
  <Company>ओ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Gillian Hall</dc:creator>
  <cp:lastModifiedBy>priyanka d</cp:lastModifiedBy>
  <cp:revision>85</cp:revision>
  <cp:lastPrinted>2001-05-28T10:10:18Z</cp:lastPrinted>
  <dcterms:created xsi:type="dcterms:W3CDTF">2003-08-26T05:13:59Z</dcterms:created>
  <dcterms:modified xsi:type="dcterms:W3CDTF">2025-09-30T03:14:40Z</dcterms:modified>
</cp:coreProperties>
</file>